
<file path=[Content_Types].xml><?xml version="1.0" encoding="utf-8"?>
<Types xmlns="http://schemas.openxmlformats.org/package/2006/content-types">
  <Default Extension="xml" ContentType="application/vnd.openxmlformats-package.core-properties+xml"/>
  <Default Extension="bin" ContentType="image/webp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ead0ecc74934f99" /><Relationship Type="http://schemas.openxmlformats.org/officeDocument/2006/relationships/extended-properties" Target="/docProps/app.xml" Id="R57d0a2ef2b994c74" /><Relationship Type="http://schemas.openxmlformats.org/officeDocument/2006/relationships/officeDocument" Target="/ppt/presentation.xml" Id="R3899b803fd4d4b8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4dedfe9c85a4f98"/>
  </p:sldMasterIdLst>
  <p:notesMasterIdLst>
    <p:notesMasterId xmlns:r="http://schemas.openxmlformats.org/officeDocument/2006/relationships" r:id="R0ab33d691f7448aa"/>
  </p:notesMasterIdLst>
  <p:sldIdLst>
    <p:sldId xmlns:r="http://schemas.openxmlformats.org/officeDocument/2006/relationships" id="256" r:id="Rb5f0ac7b51274465"/>
    <p:sldId xmlns:r="http://schemas.openxmlformats.org/officeDocument/2006/relationships" id="257" r:id="Rc6cb8a88e2904bc0"/>
    <p:sldId xmlns:r="http://schemas.openxmlformats.org/officeDocument/2006/relationships" id="258" r:id="R1327fe8db410480c"/>
    <p:sldId xmlns:r="http://schemas.openxmlformats.org/officeDocument/2006/relationships" id="259" r:id="Rb56b0188821b4577"/>
    <p:sldId xmlns:r="http://schemas.openxmlformats.org/officeDocument/2006/relationships" id="260" r:id="R70f71eca91954e62"/>
    <p:sldId xmlns:r="http://schemas.openxmlformats.org/officeDocument/2006/relationships" id="261" r:id="Rc92f02c85d144815"/>
    <p:sldId xmlns:r="http://schemas.openxmlformats.org/officeDocument/2006/relationships" id="262" r:id="Racf5fe81d91e41a2"/>
    <p:sldId xmlns:r="http://schemas.openxmlformats.org/officeDocument/2006/relationships" id="263" r:id="Re18c6df8175949a5"/>
    <p:sldId xmlns:r="http://schemas.openxmlformats.org/officeDocument/2006/relationships" id="264" r:id="R98cac2df860644ad"/>
    <p:sldId xmlns:r="http://schemas.openxmlformats.org/officeDocument/2006/relationships" id="265" r:id="R38af5c6d0e814ce0"/>
    <p:sldId xmlns:r="http://schemas.openxmlformats.org/officeDocument/2006/relationships" id="266" r:id="R7fe6fb7a04c94c3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d94bbbb3d0346c3" /><Relationship Type="http://schemas.openxmlformats.org/officeDocument/2006/relationships/slideMaster" Target="/ppt/slideMasters/slideMaster1.xml" Id="Ra4dedfe9c85a4f98" /><Relationship Type="http://schemas.openxmlformats.org/officeDocument/2006/relationships/notesMaster" Target="/ppt/notesMasters/notesMaster1.xml" Id="R0ab33d691f7448aa" /><Relationship Type="http://schemas.openxmlformats.org/officeDocument/2006/relationships/presProps" Target="/ppt/presProps.xml" Id="R38290fc07bb8430b" /><Relationship Type="http://schemas.openxmlformats.org/officeDocument/2006/relationships/tableStyles" Target="/ppt/tableStyles.xml" Id="Rdee33633e8964a3b" /><Relationship Type="http://schemas.openxmlformats.org/officeDocument/2006/relationships/slide" Target="/ppt/slides/slide1.xml" Id="Rb5f0ac7b51274465" /><Relationship Type="http://schemas.openxmlformats.org/officeDocument/2006/relationships/slide" Target="/ppt/slides/slide2.xml" Id="Rc6cb8a88e2904bc0" /><Relationship Type="http://schemas.openxmlformats.org/officeDocument/2006/relationships/slide" Target="/ppt/slides/slide3.xml" Id="R1327fe8db410480c" /><Relationship Type="http://schemas.openxmlformats.org/officeDocument/2006/relationships/slide" Target="/ppt/slides/slide4.xml" Id="Rb56b0188821b4577" /><Relationship Type="http://schemas.openxmlformats.org/officeDocument/2006/relationships/slide" Target="/ppt/slides/slide5.xml" Id="R70f71eca91954e62" /><Relationship Type="http://schemas.openxmlformats.org/officeDocument/2006/relationships/slide" Target="/ppt/slides/slide6.xml" Id="Rc92f02c85d144815" /><Relationship Type="http://schemas.openxmlformats.org/officeDocument/2006/relationships/slide" Target="/ppt/slides/slide7.xml" Id="Racf5fe81d91e41a2" /><Relationship Type="http://schemas.openxmlformats.org/officeDocument/2006/relationships/slide" Target="/ppt/slides/slide8.xml" Id="Re18c6df8175949a5" /><Relationship Type="http://schemas.openxmlformats.org/officeDocument/2006/relationships/slide" Target="/ppt/slides/slide9.xml" Id="R98cac2df860644ad" /><Relationship Type="http://schemas.openxmlformats.org/officeDocument/2006/relationships/slide" Target="/ppt/slides/slide10.xml" Id="R38af5c6d0e814ce0" /><Relationship Type="http://schemas.openxmlformats.org/officeDocument/2006/relationships/slide" Target="/ppt/slides/slide11.xml" Id="R7fe6fb7a04c94c3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af81694f35b4ec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fd89dd720c54c48" /><Relationship Type="http://schemas.openxmlformats.org/officeDocument/2006/relationships/notesMaster" Target="/ppt/notesMasters/notesMaster1.xml" Id="R78745f36089c48e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c29f4ddb3c44e6a" /><Relationship Type="http://schemas.openxmlformats.org/officeDocument/2006/relationships/notesMaster" Target="/ppt/notesMasters/notesMaster1.xml" Id="R706db7e1ced5461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a9132386c75420c" /><Relationship Type="http://schemas.openxmlformats.org/officeDocument/2006/relationships/notesMaster" Target="/ppt/notesMasters/notesMaster1.xml" Id="R754a6f674b8c4cb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d9a610bd7c94ab3" /><Relationship Type="http://schemas.openxmlformats.org/officeDocument/2006/relationships/notesMaster" Target="/ppt/notesMasters/notesMaster1.xml" Id="Rd1d20a20cd184ef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ecd5e196e164e94" /><Relationship Type="http://schemas.openxmlformats.org/officeDocument/2006/relationships/notesMaster" Target="/ppt/notesMasters/notesMaster1.xml" Id="Rb18c32f216964a6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b9d0b9397174cde" /><Relationship Type="http://schemas.openxmlformats.org/officeDocument/2006/relationships/notesMaster" Target="/ppt/notesMasters/notesMaster1.xml" Id="R8a198f6b5917442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bb0e738879a4edc" /><Relationship Type="http://schemas.openxmlformats.org/officeDocument/2006/relationships/notesMaster" Target="/ppt/notesMasters/notesMaster1.xml" Id="Rb0828dbe240b442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aa83d07789d4d8f" /><Relationship Type="http://schemas.openxmlformats.org/officeDocument/2006/relationships/notesMaster" Target="/ppt/notesMasters/notesMaster1.xml" Id="R829de894a97048a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1e62973a28548d3" /><Relationship Type="http://schemas.openxmlformats.org/officeDocument/2006/relationships/notesMaster" Target="/ppt/notesMasters/notesMaster1.xml" Id="R460a2f18f3264ef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d96d846f8734c34" /><Relationship Type="http://schemas.openxmlformats.org/officeDocument/2006/relationships/notesMaster" Target="/ppt/notesMasters/notesMaster1.xml" Id="R5893dd5ac05542b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d8ee219c7334daa" /><Relationship Type="http://schemas.openxmlformats.org/officeDocument/2006/relationships/notesMaster" Target="/ppt/notesMasters/notesMaster1.xml" Id="Ra3ce6ae0dd72460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goal: replace fragile paper hand-offs without compromising personal or clinical data.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docs/secure_coding/report.md</a:t>
            </a:r>
          </a:p>
          <a:p xmlns:a="http://schemas.openxmlformats.org/drawingml/2006/main">
            <a:r>
              <a:t>- react-user-dashboard/public/landing/vsms-screening-hero.webp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through the lifecycle once. The remaining slides prove that the same simple model survives identity checks, offline work and recovery.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docs/vsms-participant-flow.md</a:t>
            </a:r>
          </a:p>
          <a:p xmlns:a="http://schemas.openxmlformats.org/drawingml/2006/main">
            <a:r>
              <a:t>- backend/docs/openapi.yaml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live system for the acceptance replay. This repository screenshot is supporting product evidence, not a replacement for current AWS proof.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react-user-dashboard/public/landing/event-workspace-preview.jpg</a:t>
            </a:r>
          </a:p>
          <a:p xmlns:a="http://schemas.openxmlformats.org/drawingml/2006/main">
            <a:r>
              <a:t>- backend/services/event/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Demonstrate one allowed path and three denied paths. Do not stop at a successful login; access is event- and duty-scoped.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backend/routes/authRoutes.js</a:t>
            </a:r>
          </a:p>
          <a:p xmlns:a="http://schemas.openxmlformats.org/drawingml/2006/main">
            <a:r>
              <a:t>- backend/middlewares/authorize.js</a:t>
            </a:r>
          </a:p>
          <a:p xmlns:a="http://schemas.openxmlformats.org/drawingml/2006/main">
            <a:r>
              <a:t>- infrastructure/cognito.yaml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acceptance branch restores eye health through route, service, OpenAPI, seed data, frontend and offline sync. Every station reuses server-side validation, authorization and idempotency.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backend/services/screening/screeningService.js</a:t>
            </a:r>
          </a:p>
          <a:p xmlns:a="http://schemas.openxmlformats.org/drawingml/2006/main">
            <a:r>
              <a:t>- backend/docs/openapi.yaml</a:t>
            </a:r>
          </a:p>
          <a:p xmlns:a="http://schemas.openxmlformats.org/drawingml/2006/main">
            <a:r>
              <a:t>- react-user-dashboard/src/features/screening/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Preload the pack online, disconnect, hard-refresh the PWA, save one eye-health result, reconnect, and show the same clientActionId cannot be applied twice.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backend/docs/offline-screening-28.md</a:t>
            </a:r>
          </a:p>
          <a:p xmlns:a="http://schemas.openxmlformats.org/drawingml/2006/main">
            <a:r>
              <a:t>- react-user-dashboard/src/features/screening/offlineSync.ts</a:t>
            </a:r>
          </a:p>
          <a:p xmlns:a="http://schemas.openxmlformats.org/drawingml/2006/main">
            <a:r>
              <a:t>- react-user-dashboard/vite.config.ts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live event list to enter the representative sample event. This image documents the implemented visual surface.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react-user-dashboard/public/landing/vsms-events-workspace.jpg</a:t>
            </a:r>
          </a:p>
          <a:p xmlns:a="http://schemas.openxmlformats.org/drawingml/2006/main">
            <a:r>
              <a:t>- react-user-dashboard/src/features/events/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Separate historical deployment proof from current availability. The 11 August runbook records this topology; the 13 August API check timed out and must be replayed with renewed AWS access.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docs/2026-08-11_aws-cloud-deployment-runbook.md</a:t>
            </a:r>
          </a:p>
          <a:p xmlns:a="http://schemas.openxmlformats.org/drawingml/2006/main">
            <a:r>
              <a:t>- docs/secure_coding/diagrams/deploymentDiagram.md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mixed workload: 500 participant pollers, ten staff pollers, registration, check-in, screening sync and reporting against a real PostgreSQL service.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docs/2026-08-13-performance-recovery.md</a:t>
            </a:r>
          </a:p>
          <a:p xmlns:a="http://schemas.openxmlformats.org/drawingml/2006/main">
            <a:r>
              <a:t>- .github/workflows/performance-recovery.yml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dump is not a recovery proof. The workflow restores into a fresh database and compares row counts, constraint name/type/validation and exact index definitions.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backend/scripts/backup-postgres.sh</a:t>
            </a:r>
          </a:p>
          <a:p xmlns:a="http://schemas.openxmlformats.org/drawingml/2006/main">
            <a:r>
              <a:t>- backend/scripts/restore-postgres.sh</a:t>
            </a:r>
          </a:p>
          <a:p xmlns:a="http://schemas.openxmlformats.org/drawingml/2006/main">
            <a:r>
              <a:t>- docs/2026-08-13-performance-recovery.md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honestly: code and repeatable local proof are complete; acceptance cannot be claimed until authorized AWS access is restored and the matrix is replayed.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docs/secure_coding/report.md</a:t>
            </a:r>
          </a:p>
          <a:p xmlns:a="http://schemas.openxmlformats.org/drawingml/2006/main">
            <a:r>
              <a:t>- docs/secure_coding/demo-outline.md</a:t>
            </a:r>
          </a:p>
          <a:p xmlns:a="http://schemas.openxmlformats.org/drawingml/2006/main">
            <a:r>
              <a:t>- docs/2026-08-13-performance-recovery.md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5e328746d2e41f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21605a7d01e42f5" /><Relationship Type="http://schemas.openxmlformats.org/officeDocument/2006/relationships/slideLayout" Target="/ppt/slideLayouts/slideLayout1.xml" Id="Re749dd163fce4ff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749dd163fce4ff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65ea1e4c6b4c71" /><Relationship Type="http://schemas.openxmlformats.org/officeDocument/2006/relationships/image" Target="/ppt/media/image.bin" Id="Rc878fe16dc4d4047" /><Relationship Type="http://schemas.openxmlformats.org/officeDocument/2006/relationships/notesSlide" Target="/ppt/notesSlides/notesSlide1.xml" Id="R3f9c816bdb1f483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c34fa989504ea0" /><Relationship Type="http://schemas.openxmlformats.org/officeDocument/2006/relationships/notesSlide" Target="/ppt/notesSlides/notesSlide2.xml" Id="Rc254335b76c7405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27dbe0321e4b09" /><Relationship Type="http://schemas.openxmlformats.org/officeDocument/2006/relationships/image" Target="/ppt/media/image.jpeg" Id="Rbf80e44d174841c8" /><Relationship Type="http://schemas.openxmlformats.org/officeDocument/2006/relationships/notesSlide" Target="/ppt/notesSlides/notesSlide3.xml" Id="R6423f358f1ee496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cfcd7a52494efe" /><Relationship Type="http://schemas.openxmlformats.org/officeDocument/2006/relationships/notesSlide" Target="/ppt/notesSlides/notesSlide4.xml" Id="R03b7238a4f3144d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e6fe46208c48fb" /><Relationship Type="http://schemas.openxmlformats.org/officeDocument/2006/relationships/notesSlide" Target="/ppt/notesSlides/notesSlide5.xml" Id="Rcadabc92b0a8422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fcf55bda6c476a" /><Relationship Type="http://schemas.openxmlformats.org/officeDocument/2006/relationships/notesSlide" Target="/ppt/notesSlides/notesSlide6.xml" Id="R578db35ef82c452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2cc3b7b83342a7" /><Relationship Type="http://schemas.openxmlformats.org/officeDocument/2006/relationships/image" Target="/ppt/media/image2.jpeg" Id="R89302a0fdf8843ee" /><Relationship Type="http://schemas.openxmlformats.org/officeDocument/2006/relationships/notesSlide" Target="/ppt/notesSlides/notesSlide7.xml" Id="Rfa7799f1d08f441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3994b3bf4c44cd" /><Relationship Type="http://schemas.openxmlformats.org/officeDocument/2006/relationships/notesSlide" Target="/ppt/notesSlides/notesSlide8.xml" Id="R9fe29a82cdda40f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6be34c03ce4212" /><Relationship Type="http://schemas.openxmlformats.org/officeDocument/2006/relationships/chart" Target="/ppt/slides/charts/chart1.xml" Id="Rfee0ab4e72e645f1" /><Relationship Type="http://schemas.openxmlformats.org/officeDocument/2006/relationships/notesSlide" Target="/ppt/notesSlides/notesSlide9.xml" Id="Rf98891389ed048c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12694c081b4702" /><Relationship Type="http://schemas.openxmlformats.org/officeDocument/2006/relationships/notesSlide" Target="/ppt/notesSlides/notesSlide10.xml" Id="R849c8fcd9a9c4af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5920921aea4c48" /><Relationship Type="http://schemas.openxmlformats.org/officeDocument/2006/relationships/notesSlide" Target="/ppt/notesSlides/notesSlide11.xml" Id="Rf360645f7b1649e4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p95 latency (ms)</c:v>
          </c:tx>
          <c:spPr>
            <a:solidFill xmlns:a="http://schemas.openxmlformats.org/drawingml/2006/main">
              <a:srgbClr val="3D8DFF"/>
            </a:solidFill>
          </c:spPr>
          <c:cat>
            <c:strLit>
              <c:ptCount val="6"/>
              <c:pt idx="0">
                <c:v>Registration</c:v>
              </c:pt>
              <c:pt idx="1">
                <c:v>Check-in</c:v>
              </c:pt>
              <c:pt idx="2">
                <c:v>Queue read</c:v>
              </c:pt>
              <c:pt idx="3">
                <c:v>Screening sync</c:v>
              </c:pt>
              <c:pt idx="4">
                <c:v>Reporting</c:v>
              </c:pt>
              <c:pt idx="5">
                <c:v>Status poll</c:v>
              </c:pt>
            </c:strLit>
          </c:cat>
          <c:val>
            <c:numLit>
              <c:formatCode>General</c:formatCode>
              <c:ptCount val="6"/>
              <c:pt idx="0">
                <c:v>28.35</c:v>
              </c:pt>
              <c:pt idx="1">
                <c:v>32.56</c:v>
              </c:pt>
              <c:pt idx="2">
                <c:v>22.23</c:v>
              </c:pt>
              <c:pt idx="3">
                <c:v>343.96</c:v>
              </c:pt>
              <c:pt idx="4">
                <c:v>33.52</c:v>
              </c:pt>
              <c:pt idx="5">
                <c:v>22.28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101114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</c:catAx>
      <c:valAx>
        <c:axId val="48672768"/>
        <c:scaling>
          <c:orientation val="minMax"/>
          <c:max val="500"/>
        </c:scaling>
        <c:delete val="0"/>
        <c:axPos val="b"/>
        <c:majorGridlines>
          <c:spPr>
            <a:ln xmlns:a="http://schemas.openxmlformats.org/drawingml/2006/main" w="9525">
              <a:solidFill>
                <a:srgbClr val="ECEEF1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0">
            <a:solidFill>
              <a:srgbClr val="FFFFF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101114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crossBetween val="between"/>
        <c:majorUnit val="100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9A655E2C-FFB4-4C8B-8F08-A0C196F0D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VSMS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17C87DC7-6429-468D-9964-10A79E3E2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57350"/>
            <a:ext cx="5334000" cy="198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6111"/>
          </a:bodyPr>
          <a:lstStyle xmlns:a="http://schemas.openxmlformats.org/drawingml/2006/main"/>
          <a:p xmlns:a="http://schemas.openxmlformats.org/drawingml/2006/main">
            <a:pPr>
              <a:defRPr sz="4800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defRPr>
            </a:pPr>
            <a:r>
              <a:rPr sz="4800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rPr>
              <a:t>The complete screening journey, secured</a:t>
            </a:r>
          </a:p>
        </p:txBody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18DC9059-8673-433A-AF9A-A980D9B20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229100"/>
            <a:ext cx="4762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F66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5F6672"/>
                </a:solidFill>
                <a:latin typeface="Helvetica Neue"/>
                <a:ea typeface="Helvetica Neue"/>
                <a:cs typeface="Helvetica Neue"/>
              </a:rPr>
              <a:t>Visual Screening Management System</a:t>
            </a:r>
          </a:p>
          <a:p xmlns:a="http://schemas.openxmlformats.org/drawingml/2006/main">
            <a:pPr>
              <a:defRPr sz="1875">
                <a:solidFill>
                  <a:srgbClr val="5F66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5F6672"/>
                </a:solidFill>
                <a:latin typeface="Helvetica Neue"/>
                <a:ea typeface="Helvetica Neue"/>
                <a:cs typeface="Helvetica Neue"/>
              </a:rPr>
              <a:t>15-minute demonstration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78fe16dc4d4047"/>
          <a:srcRect xmlns:a="http://schemas.openxmlformats.org/drawingml/2006/main" l="21833" t="0" r="2183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91250" y="400050"/>
            <a:ext cx="5600700" cy="5600700"/>
          </a:xfrm>
          <a:prstGeom xmlns:a="http://schemas.openxmlformats.org/drawingml/2006/main" prst="roundRect">
            <a:avLst>
              <a:gd name="adj" fmla="val 2041"/>
            </a:avLst>
          </a:prstGeom>
        </p:spPr>
      </p:pic>
      <p:sp>
        <p:nvSpPr>
          <p:cNvPr id="5" name="cover-date">
            <a:extLst xmlns:a="http://schemas.openxmlformats.org/drawingml/2006/main">
              <a:ext uri="{FF2B5EF4-FFF2-40B4-BE49-F238E27FC236}">
                <a16:creationId xmlns:a16="http://schemas.microsoft.com/office/drawing/2014/main" id="{A6DCF096-15FB-451F-BBFE-1FC7B94CC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81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F66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>
                <a:solidFill>
                  <a:srgbClr val="5F6672"/>
                </a:solidFill>
                <a:latin typeface="Helvetica Neue"/>
                <a:ea typeface="Helvetica Neue"/>
                <a:cs typeface="Helvetica Neue"/>
              </a:rPr>
              <a:t>13 AUG 2026</a:t>
            </a:r>
          </a:p>
        </p:txBody>
      </p:sp>
    </p:spTree>
    <p:extLst>
      <p:ext uri="{BB962C8B-B14F-4D97-AF65-F5344CB8AC3E}">
        <p14:creationId xmlns:p14="http://schemas.microsoft.com/office/powerpoint/2010/main" val="152531962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kicker">
            <a:extLst xmlns:a="http://schemas.openxmlformats.org/drawingml/2006/main">
              <a:ext uri="{FF2B5EF4-FFF2-40B4-BE49-F238E27FC236}">
                <a16:creationId xmlns:a16="http://schemas.microsoft.com/office/drawing/2014/main" id="{AE5F14A9-B796-4ED7-BFD8-4CCE15C0F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01 · WORKFLOW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A7AB323-8D9A-4620-8C03-27AB78559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0858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rPr>
              <a:t>One record follows arrival to referral</a:t>
            </a:r>
          </a:p>
        </p:txBody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6EFEBE0-8A75-4C44-A7D1-0C4CDDFEB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F66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>
                <a:solidFill>
                  <a:srgbClr val="5F6672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4" name="flow-arrow-0">
            <a:extLst xmlns:a="http://schemas.openxmlformats.org/drawingml/2006/main">
              <a:ext uri="{FF2B5EF4-FFF2-40B4-BE49-F238E27FC236}">
                <a16:creationId xmlns:a16="http://schemas.microsoft.com/office/drawing/2014/main" id="{C167A8CE-345A-488A-AA62-24629C658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3105150"/>
            <a:ext cx="2286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CD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low-arrow-1">
            <a:extLst xmlns:a="http://schemas.openxmlformats.org/drawingml/2006/main">
              <a:ext uri="{FF2B5EF4-FFF2-40B4-BE49-F238E27FC236}">
                <a16:creationId xmlns:a16="http://schemas.microsoft.com/office/drawing/2014/main" id="{CB401AB3-882B-4DBA-B3CA-6B6D6426E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105150"/>
            <a:ext cx="2286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CD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low-arrow-2">
            <a:extLst xmlns:a="http://schemas.openxmlformats.org/drawingml/2006/main">
              <a:ext uri="{FF2B5EF4-FFF2-40B4-BE49-F238E27FC236}">
                <a16:creationId xmlns:a16="http://schemas.microsoft.com/office/drawing/2014/main" id="{E5482901-F0FC-4385-8B79-FF7BDA23D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3105150"/>
            <a:ext cx="2286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CD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flow-arrow-3">
            <a:extLst xmlns:a="http://schemas.openxmlformats.org/drawingml/2006/main">
              <a:ext uri="{FF2B5EF4-FFF2-40B4-BE49-F238E27FC236}">
                <a16:creationId xmlns:a16="http://schemas.microsoft.com/office/drawing/2014/main" id="{C2B216CE-011F-40B1-88E2-77DF092A0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3105150"/>
            <a:ext cx="2286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CD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flow-arrow-4">
            <a:extLst xmlns:a="http://schemas.openxmlformats.org/drawingml/2006/main">
              <a:ext uri="{FF2B5EF4-FFF2-40B4-BE49-F238E27FC236}">
                <a16:creationId xmlns:a16="http://schemas.microsoft.com/office/drawing/2014/main" id="{BAB620B3-BCA7-479B-B78E-A4BDC91F7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3105150"/>
            <a:ext cx="2286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CD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flow-arrow-5">
            <a:extLst xmlns:a="http://schemas.openxmlformats.org/drawingml/2006/main">
              <a:ext uri="{FF2B5EF4-FFF2-40B4-BE49-F238E27FC236}">
                <a16:creationId xmlns:a16="http://schemas.microsoft.com/office/drawing/2014/main" id="{DBD48A67-0E13-4558-A66D-9A04F96FD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105150"/>
            <a:ext cx="2286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flow-arrow-6">
            <a:extLst xmlns:a="http://schemas.openxmlformats.org/drawingml/2006/main">
              <a:ext uri="{FF2B5EF4-FFF2-40B4-BE49-F238E27FC236}">
                <a16:creationId xmlns:a16="http://schemas.microsoft.com/office/drawing/2014/main" id="{4BB60E49-02CB-4AAA-9E1F-B7574C7DE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3105150"/>
            <a:ext cx="2286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CD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step-01">
            <a:extLst xmlns:a="http://schemas.openxmlformats.org/drawingml/2006/main">
              <a:ext uri="{FF2B5EF4-FFF2-40B4-BE49-F238E27FC236}">
                <a16:creationId xmlns:a16="http://schemas.microsoft.com/office/drawing/2014/main" id="{792C6CC2-A34E-48EC-9932-8E55E3130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476500"/>
            <a:ext cx="1143000" cy="14859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CEEF1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2" name="step-num-01">
            <a:extLst xmlns:a="http://schemas.openxmlformats.org/drawingml/2006/main">
              <a:ext uri="{FF2B5EF4-FFF2-40B4-BE49-F238E27FC236}">
                <a16:creationId xmlns:a16="http://schemas.microsoft.com/office/drawing/2014/main" id="{C8C521FA-6B3E-4D46-9D05-48CBDD3BF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47950"/>
            <a:ext cx="685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428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13" name="step-label-01">
            <a:extLst xmlns:a="http://schemas.openxmlformats.org/drawingml/2006/main">
              <a:ext uri="{FF2B5EF4-FFF2-40B4-BE49-F238E27FC236}">
                <a16:creationId xmlns:a16="http://schemas.microsoft.com/office/drawing/2014/main" id="{A1B836B7-E49B-4BAC-8E5F-62B07E7C7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57550"/>
            <a:ext cx="914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rPr>
              <a:t>Login</a:t>
            </a:r>
          </a:p>
        </p:txBody>
      </p:sp>
      <p:sp>
        <p:nvSpPr>
          <p:cNvPr id="14" name="step-02">
            <a:extLst xmlns:a="http://schemas.openxmlformats.org/drawingml/2006/main">
              <a:ext uri="{FF2B5EF4-FFF2-40B4-BE49-F238E27FC236}">
                <a16:creationId xmlns:a16="http://schemas.microsoft.com/office/drawing/2014/main" id="{BBE31407-65A3-4FF1-B8D8-366D9233F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2476500"/>
            <a:ext cx="1143000" cy="14859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CEEF1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5" name="step-num-02">
            <a:extLst xmlns:a="http://schemas.openxmlformats.org/drawingml/2006/main">
              <a:ext uri="{FF2B5EF4-FFF2-40B4-BE49-F238E27FC236}">
                <a16:creationId xmlns:a16="http://schemas.microsoft.com/office/drawing/2014/main" id="{01CC8ED0-23D0-4F84-9944-9125274E9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647950"/>
            <a:ext cx="685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428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6" name="step-label-02">
            <a:extLst xmlns:a="http://schemas.openxmlformats.org/drawingml/2006/main">
              <a:ext uri="{FF2B5EF4-FFF2-40B4-BE49-F238E27FC236}">
                <a16:creationId xmlns:a16="http://schemas.microsoft.com/office/drawing/2014/main" id="{F42111EC-CC09-49E4-9502-A9B26FB45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257550"/>
            <a:ext cx="914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rPr>
              <a:t>Register</a:t>
            </a:r>
          </a:p>
        </p:txBody>
      </p:sp>
      <p:sp>
        <p:nvSpPr>
          <p:cNvPr id="17" name="step-03">
            <a:extLst xmlns:a="http://schemas.openxmlformats.org/drawingml/2006/main">
              <a:ext uri="{FF2B5EF4-FFF2-40B4-BE49-F238E27FC236}">
                <a16:creationId xmlns:a16="http://schemas.microsoft.com/office/drawing/2014/main" id="{64D810F8-F160-4329-8927-792774C2E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476500"/>
            <a:ext cx="1143000" cy="14859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CEEF1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8" name="step-num-03">
            <a:extLst xmlns:a="http://schemas.openxmlformats.org/drawingml/2006/main">
              <a:ext uri="{FF2B5EF4-FFF2-40B4-BE49-F238E27FC236}">
                <a16:creationId xmlns:a16="http://schemas.microsoft.com/office/drawing/2014/main" id="{C4852081-7BC7-4460-9C62-B6EA0FDF0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647950"/>
            <a:ext cx="685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428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9" name="step-label-03">
            <a:extLst xmlns:a="http://schemas.openxmlformats.org/drawingml/2006/main">
              <a:ext uri="{FF2B5EF4-FFF2-40B4-BE49-F238E27FC236}">
                <a16:creationId xmlns:a16="http://schemas.microsoft.com/office/drawing/2014/main" id="{286B83E5-DFED-4835-96F7-538A7963A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257550"/>
            <a:ext cx="914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rPr>
              <a:t>QR pass</a:t>
            </a:r>
          </a:p>
        </p:txBody>
      </p:sp>
      <p:sp>
        <p:nvSpPr>
          <p:cNvPr id="20" name="step-04">
            <a:extLst xmlns:a="http://schemas.openxmlformats.org/drawingml/2006/main">
              <a:ext uri="{FF2B5EF4-FFF2-40B4-BE49-F238E27FC236}">
                <a16:creationId xmlns:a16="http://schemas.microsoft.com/office/drawing/2014/main" id="{F161EDDE-403F-4A77-8EB4-681FDA97E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476500"/>
            <a:ext cx="1143000" cy="14859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CEEF1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1" name="step-num-04">
            <a:extLst xmlns:a="http://schemas.openxmlformats.org/drawingml/2006/main">
              <a:ext uri="{FF2B5EF4-FFF2-40B4-BE49-F238E27FC236}">
                <a16:creationId xmlns:a16="http://schemas.microsoft.com/office/drawing/2014/main" id="{AB1AD4B1-DDBC-4E99-8A20-89E095182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647950"/>
            <a:ext cx="685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428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22" name="step-label-04">
            <a:extLst xmlns:a="http://schemas.openxmlformats.org/drawingml/2006/main">
              <a:ext uri="{FF2B5EF4-FFF2-40B4-BE49-F238E27FC236}">
                <a16:creationId xmlns:a16="http://schemas.microsoft.com/office/drawing/2014/main" id="{09D515EB-D072-4EEA-92EF-E36A270FF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257550"/>
            <a:ext cx="914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rPr>
              <a:t>Queue</a:t>
            </a:r>
          </a:p>
        </p:txBody>
      </p:sp>
      <p:sp>
        <p:nvSpPr>
          <p:cNvPr id="23" name="step-05">
            <a:extLst xmlns:a="http://schemas.openxmlformats.org/drawingml/2006/main">
              <a:ext uri="{FF2B5EF4-FFF2-40B4-BE49-F238E27FC236}">
                <a16:creationId xmlns:a16="http://schemas.microsoft.com/office/drawing/2014/main" id="{B3428514-BDFB-4296-8EB0-B1FC1344A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476500"/>
            <a:ext cx="1143000" cy="14859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8F6FC"/>
          </a:solidFill>
          <a:ln xmlns:a="http://schemas.openxmlformats.org/drawingml/2006/main" w="9525">
            <a:solidFill>
              <a:srgbClr val="6DCBF4"/>
            </a:solidFill>
            <a:prstDash val="solid"/>
          </a:ln>
        </p:spPr>
      </p:sp>
      <p:sp>
        <p:nvSpPr>
          <p:cNvPr id="24" name="step-num-05">
            <a:extLst xmlns:a="http://schemas.openxmlformats.org/drawingml/2006/main">
              <a:ext uri="{FF2B5EF4-FFF2-40B4-BE49-F238E27FC236}">
                <a16:creationId xmlns:a16="http://schemas.microsoft.com/office/drawing/2014/main" id="{373A52A5-6963-4A80-B427-2AE934338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47950"/>
            <a:ext cx="685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428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25" name="step-label-05">
            <a:extLst xmlns:a="http://schemas.openxmlformats.org/drawingml/2006/main">
              <a:ext uri="{FF2B5EF4-FFF2-40B4-BE49-F238E27FC236}">
                <a16:creationId xmlns:a16="http://schemas.microsoft.com/office/drawing/2014/main" id="{C191F41F-84D2-4DA0-8CF5-5A0A02F20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257550"/>
            <a:ext cx="914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rPr>
              <a:t>Stations</a:t>
            </a:r>
          </a:p>
        </p:txBody>
      </p:sp>
      <p:sp>
        <p:nvSpPr>
          <p:cNvPr id="26" name="step-06">
            <a:extLst xmlns:a="http://schemas.openxmlformats.org/drawingml/2006/main">
              <a:ext uri="{FF2B5EF4-FFF2-40B4-BE49-F238E27FC236}">
                <a16:creationId xmlns:a16="http://schemas.microsoft.com/office/drawing/2014/main" id="{C35BDAD4-690C-4FE2-BDB1-16D3E9EAD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476500"/>
            <a:ext cx="1143000" cy="14859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CEEF1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7" name="step-num-06">
            <a:extLst xmlns:a="http://schemas.openxmlformats.org/drawingml/2006/main">
              <a:ext uri="{FF2B5EF4-FFF2-40B4-BE49-F238E27FC236}">
                <a16:creationId xmlns:a16="http://schemas.microsoft.com/office/drawing/2014/main" id="{B9CF82FF-4756-466F-9269-9A05F3F71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647950"/>
            <a:ext cx="685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428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28" name="step-label-06">
            <a:extLst xmlns:a="http://schemas.openxmlformats.org/drawingml/2006/main">
              <a:ext uri="{FF2B5EF4-FFF2-40B4-BE49-F238E27FC236}">
                <a16:creationId xmlns:a16="http://schemas.microsoft.com/office/drawing/2014/main" id="{096E978D-CAA1-4620-B9D2-F7F0DCAF5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257550"/>
            <a:ext cx="914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rPr>
              <a:t>Review</a:t>
            </a:r>
          </a:p>
        </p:txBody>
      </p:sp>
      <p:sp>
        <p:nvSpPr>
          <p:cNvPr id="29" name="step-07">
            <a:extLst xmlns:a="http://schemas.openxmlformats.org/drawingml/2006/main">
              <a:ext uri="{FF2B5EF4-FFF2-40B4-BE49-F238E27FC236}">
                <a16:creationId xmlns:a16="http://schemas.microsoft.com/office/drawing/2014/main" id="{AF96C711-D0E3-4838-BBD9-28C8DFDF2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476500"/>
            <a:ext cx="1143000" cy="14859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CEEF1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0" name="step-num-07">
            <a:extLst xmlns:a="http://schemas.openxmlformats.org/drawingml/2006/main">
              <a:ext uri="{FF2B5EF4-FFF2-40B4-BE49-F238E27FC236}">
                <a16:creationId xmlns:a16="http://schemas.microsoft.com/office/drawing/2014/main" id="{A2BDFDDB-3636-4D6E-AF2D-E8F80217F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647950"/>
            <a:ext cx="685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428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  <p:sp>
        <p:nvSpPr>
          <p:cNvPr id="31" name="step-label-07">
            <a:extLst xmlns:a="http://schemas.openxmlformats.org/drawingml/2006/main">
              <a:ext uri="{FF2B5EF4-FFF2-40B4-BE49-F238E27FC236}">
                <a16:creationId xmlns:a16="http://schemas.microsoft.com/office/drawing/2014/main" id="{C9CF18A8-242F-4ACC-B95A-2DD66F09D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257550"/>
            <a:ext cx="914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rPr>
              <a:t>Referral</a:t>
            </a:r>
          </a:p>
        </p:txBody>
      </p:sp>
      <p:sp>
        <p:nvSpPr>
          <p:cNvPr id="32" name="step-08">
            <a:extLst xmlns:a="http://schemas.openxmlformats.org/drawingml/2006/main">
              <a:ext uri="{FF2B5EF4-FFF2-40B4-BE49-F238E27FC236}">
                <a16:creationId xmlns:a16="http://schemas.microsoft.com/office/drawing/2014/main" id="{1F76D82E-ED3A-4498-9709-DBF587808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2476500"/>
            <a:ext cx="1143000" cy="14859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CEEF1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3" name="step-num-08">
            <a:extLst xmlns:a="http://schemas.openxmlformats.org/drawingml/2006/main">
              <a:ext uri="{FF2B5EF4-FFF2-40B4-BE49-F238E27FC236}">
                <a16:creationId xmlns:a16="http://schemas.microsoft.com/office/drawing/2014/main" id="{DF29BC41-C4A7-4DD2-A1A1-27FB6BD73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2647950"/>
            <a:ext cx="685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428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rPr>
              <a:t>08</a:t>
            </a:r>
          </a:p>
        </p:txBody>
      </p:sp>
      <p:sp>
        <p:nvSpPr>
          <p:cNvPr id="34" name="step-label-08">
            <a:extLst xmlns:a="http://schemas.openxmlformats.org/drawingml/2006/main">
              <a:ext uri="{FF2B5EF4-FFF2-40B4-BE49-F238E27FC236}">
                <a16:creationId xmlns:a16="http://schemas.microsoft.com/office/drawing/2014/main" id="{43805F13-7DA7-4B49-AD52-7CFBE5615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3257550"/>
            <a:ext cx="914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rPr>
              <a:t>Report</a:t>
            </a:r>
          </a:p>
        </p:txBody>
      </p:sp>
      <p:sp>
        <p:nvSpPr>
          <p:cNvPr id="35" name="workflow-takeaway">
            <a:extLst xmlns:a="http://schemas.openxmlformats.org/drawingml/2006/main">
              <a:ext uri="{FF2B5EF4-FFF2-40B4-BE49-F238E27FC236}">
                <a16:creationId xmlns:a16="http://schemas.microsoft.com/office/drawing/2014/main" id="{D90B73F4-1E8E-4EC2-A95B-F0AFDB396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610100"/>
            <a:ext cx="7772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922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rPr>
              <a:t>Event-scoped authorization and audit records surround every transition.</a:t>
            </a:r>
          </a:p>
        </p:txBody>
      </p:sp>
    </p:spTree>
    <p:extLst>
      <p:ext uri="{BB962C8B-B14F-4D97-AF65-F5344CB8AC3E}">
        <p14:creationId xmlns:p14="http://schemas.microsoft.com/office/powerpoint/2010/main" val="1198579509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kicker">
            <a:extLst xmlns:a="http://schemas.openxmlformats.org/drawingml/2006/main">
              <a:ext uri="{FF2B5EF4-FFF2-40B4-BE49-F238E27FC236}">
                <a16:creationId xmlns:a16="http://schemas.microsoft.com/office/drawing/2014/main" id="{F593200D-8B2D-4B15-BE80-8A98FBE4B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02 · EVENT WORKSPACE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4A56D2E-4881-4995-BB17-BBCC3A077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0858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rPr>
              <a:t>Operational visibility without clinical exposure</a:t>
            </a:r>
          </a:p>
        </p:txBody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7A49A61-B223-4162-A4F0-1ABAEB4B7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F66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>
                <a:solidFill>
                  <a:srgbClr val="5F6672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80e44d174841c8"/>
          <a:stretch xmlns:a="http://schemas.openxmlformats.org/drawingml/2006/main"/>
        </p:blipFill>
        <p:spPr>
          <a:xfrm xmlns:a="http://schemas.openxmlformats.org/drawingml/2006/main">
            <a:off x="807720" y="1809750"/>
            <a:ext cx="6614160" cy="4133850"/>
          </a:xfrm>
          <a:prstGeom xmlns:a="http://schemas.openxmlformats.org/drawingml/2006/main" prst="rect">
            <a:avLst/>
          </a:prstGeom>
        </p:spPr>
      </p:pic>
      <p:sp>
        <p:nvSpPr>
          <p:cNvPr id="5" name="workspace-claim">
            <a:extLst xmlns:a="http://schemas.openxmlformats.org/drawingml/2006/main">
              <a:ext uri="{FF2B5EF4-FFF2-40B4-BE49-F238E27FC236}">
                <a16:creationId xmlns:a16="http://schemas.microsoft.com/office/drawing/2014/main" id="{ED9CC561-6A0E-4689-AFF9-5EF83966F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885950"/>
            <a:ext cx="3143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421"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rPr>
              <a:t>Managers see the event, staffing and queue state they own.</a:t>
            </a:r>
          </a:p>
        </p:txBody>
      </p:sp>
      <p:sp>
        <p:nvSpPr>
          <p:cNvPr id="6" name="workspace-detail">
            <a:extLst xmlns:a="http://schemas.openxmlformats.org/drawingml/2006/main">
              <a:ext uri="{FF2B5EF4-FFF2-40B4-BE49-F238E27FC236}">
                <a16:creationId xmlns:a16="http://schemas.microsoft.com/office/drawing/2014/main" id="{FFA14E93-D5A7-49DC-B1F8-AC8516A9B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238500"/>
            <a:ext cx="314325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F66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5F6672"/>
                </a:solidFill>
                <a:latin typeface="Helvetica Neue"/>
                <a:ea typeface="Helvetica Neue"/>
                <a:cs typeface="Helvetica Neue"/>
              </a:rPr>
              <a:t>Registration staff can search, consent and check 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500">
                <a:solidFill>
                  <a:srgbClr val="5F66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5F6672"/>
                </a:solidFill>
                <a:latin typeface="Helvetica Neue"/>
                <a:ea typeface="Helvetica Neue"/>
                <a:cs typeface="Helvetica Neue"/>
              </a:rPr>
              <a:t>Screeners receive only assigned station work.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500">
                <a:solidFill>
                  <a:srgbClr val="5F66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5F6672"/>
                </a:solidFill>
                <a:latin typeface="Helvetica Neue"/>
                <a:ea typeface="Helvetica Neue"/>
                <a:cs typeface="Helvetica Neue"/>
              </a:rPr>
              <a:t>Doctors own review and referral decisions.</a:t>
            </a:r>
          </a:p>
        </p:txBody>
      </p:sp>
    </p:spTree>
    <p:extLst>
      <p:ext uri="{BB962C8B-B14F-4D97-AF65-F5344CB8AC3E}">
        <p14:creationId xmlns:p14="http://schemas.microsoft.com/office/powerpoint/2010/main" val="45122620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kicker">
            <a:extLst xmlns:a="http://schemas.openxmlformats.org/drawingml/2006/main">
              <a:ext uri="{FF2B5EF4-FFF2-40B4-BE49-F238E27FC236}">
                <a16:creationId xmlns:a16="http://schemas.microsoft.com/office/drawing/2014/main" id="{308483A3-EDED-4C4D-9752-DB1299CDA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03 · SECURITY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58067E5-B992-4C72-97EB-E7998ACCE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0858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rPr>
              <a:t>Identity comes first; the API still decides access</a:t>
            </a:r>
          </a:p>
        </p:txBody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3D6C628-0F2B-4BC5-8337-2C214C2E6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F66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>
                <a:solidFill>
                  <a:srgbClr val="5F6672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4" name="auth-arrow-0">
            <a:extLst xmlns:a="http://schemas.openxmlformats.org/drawingml/2006/main">
              <a:ext uri="{FF2B5EF4-FFF2-40B4-BE49-F238E27FC236}">
                <a16:creationId xmlns:a16="http://schemas.microsoft.com/office/drawing/2014/main" id="{B27E6385-068A-41FF-AC4D-CC2013923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124200"/>
            <a:ext cx="5334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CD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auth-arrow-1">
            <a:extLst xmlns:a="http://schemas.openxmlformats.org/drawingml/2006/main">
              <a:ext uri="{FF2B5EF4-FFF2-40B4-BE49-F238E27FC236}">
                <a16:creationId xmlns:a16="http://schemas.microsoft.com/office/drawing/2014/main" id="{C6D9E0C7-BD65-4514-8B7D-1130A1863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124200"/>
            <a:ext cx="5334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CD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auth-arrow-2">
            <a:extLst xmlns:a="http://schemas.openxmlformats.org/drawingml/2006/main">
              <a:ext uri="{FF2B5EF4-FFF2-40B4-BE49-F238E27FC236}">
                <a16:creationId xmlns:a16="http://schemas.microsoft.com/office/drawing/2014/main" id="{062368E6-7013-4BE6-9F08-56595CE49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124200"/>
            <a:ext cx="5334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CD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auth-arrow-3">
            <a:extLst xmlns:a="http://schemas.openxmlformats.org/drawingml/2006/main">
              <a:ext uri="{FF2B5EF4-FFF2-40B4-BE49-F238E27FC236}">
                <a16:creationId xmlns:a16="http://schemas.microsoft.com/office/drawing/2014/main" id="{D76D8B3B-1087-496F-9898-02E3EF029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124200"/>
            <a:ext cx="5334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CD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auth-node-0">
            <a:extLst xmlns:a="http://schemas.openxmlformats.org/drawingml/2006/main">
              <a:ext uri="{FF2B5EF4-FFF2-40B4-BE49-F238E27FC236}">
                <a16:creationId xmlns:a16="http://schemas.microsoft.com/office/drawing/2014/main" id="{FEFBAC63-96C7-4194-B3AF-2CDFB7891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52700"/>
            <a:ext cx="1676400" cy="1409700"/>
          </a:xfrm>
          <a:prstGeom xmlns:a="http://schemas.openxmlformats.org/drawingml/2006/main" prst="roundRect">
            <a:avLst>
              <a:gd name="adj" fmla="val 8108"/>
            </a:avLst>
          </a:prstGeom>
          <a:solidFill xmlns:a="http://schemas.openxmlformats.org/drawingml/2006/main">
            <a:srgbClr val="E8F6FC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9" name="auth-head-0">
            <a:extLst xmlns:a="http://schemas.openxmlformats.org/drawingml/2006/main">
              <a:ext uri="{FF2B5EF4-FFF2-40B4-BE49-F238E27FC236}">
                <a16:creationId xmlns:a16="http://schemas.microsoft.com/office/drawing/2014/main" id="{024CC34B-167B-4BB9-9D85-AF9D26AC9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81300"/>
            <a:ext cx="133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667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rPr>
              <a:t>Cognito</a:t>
            </a:r>
          </a:p>
        </p:txBody>
      </p:sp>
      <p:sp>
        <p:nvSpPr>
          <p:cNvPr id="10" name="auth-body-0">
            <a:extLst xmlns:a="http://schemas.openxmlformats.org/drawingml/2006/main">
              <a:ext uri="{FF2B5EF4-FFF2-40B4-BE49-F238E27FC236}">
                <a16:creationId xmlns:a16="http://schemas.microsoft.com/office/drawing/2014/main" id="{A62DF66D-8EFA-4503-AC7B-394FF3BB1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76600"/>
            <a:ext cx="133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5F66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>
                <a:solidFill>
                  <a:srgbClr val="5F6672"/>
                </a:solidFill>
                <a:latin typeface="Helvetica Neue"/>
                <a:ea typeface="Helvetica Neue"/>
                <a:cs typeface="Helvetica Neue"/>
              </a:rPr>
              <a:t>PKCE sign-in</a:t>
            </a:r>
          </a:p>
        </p:txBody>
      </p:sp>
      <p:sp>
        <p:nvSpPr>
          <p:cNvPr id="11" name="auth-node-1">
            <a:extLst xmlns:a="http://schemas.openxmlformats.org/drawingml/2006/main">
              <a:ext uri="{FF2B5EF4-FFF2-40B4-BE49-F238E27FC236}">
                <a16:creationId xmlns:a16="http://schemas.microsoft.com/office/drawing/2014/main" id="{933FA3A4-7C2E-4B63-A47F-8FD11D8E6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552700"/>
            <a:ext cx="1676400" cy="1409700"/>
          </a:xfrm>
          <a:prstGeom xmlns:a="http://schemas.openxmlformats.org/drawingml/2006/main" prst="roundRect">
            <a:avLst>
              <a:gd name="adj" fmla="val 8108"/>
            </a:avLst>
          </a:prstGeom>
          <a:solidFill xmlns:a="http://schemas.openxmlformats.org/drawingml/2006/main">
            <a:srgbClr val="ECEEF1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2" name="auth-head-1">
            <a:extLst xmlns:a="http://schemas.openxmlformats.org/drawingml/2006/main">
              <a:ext uri="{FF2B5EF4-FFF2-40B4-BE49-F238E27FC236}">
                <a16:creationId xmlns:a16="http://schemas.microsoft.com/office/drawing/2014/main" id="{DF82C1EB-C359-42C1-9FEA-C47BAEB62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781300"/>
            <a:ext cx="133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667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rPr>
              <a:t>Session</a:t>
            </a:r>
          </a:p>
        </p:txBody>
      </p:sp>
      <p:sp>
        <p:nvSpPr>
          <p:cNvPr id="13" name="auth-body-1">
            <a:extLst xmlns:a="http://schemas.openxmlformats.org/drawingml/2006/main">
              <a:ext uri="{FF2B5EF4-FFF2-40B4-BE49-F238E27FC236}">
                <a16:creationId xmlns:a16="http://schemas.microsoft.com/office/drawing/2014/main" id="{47854CC6-BA6C-44E6-A108-89A5331B1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276600"/>
            <a:ext cx="133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118"/>
          </a:bodyPr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5F66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>
                <a:solidFill>
                  <a:srgbClr val="5F6672"/>
                </a:solidFill>
                <a:latin typeface="Helvetica Neue"/>
                <a:ea typeface="Helvetica Neue"/>
                <a:cs typeface="Helvetica Neue"/>
              </a:rPr>
              <a:t>Secure cookies + CSRF</a:t>
            </a:r>
          </a:p>
        </p:txBody>
      </p:sp>
      <p:sp>
        <p:nvSpPr>
          <p:cNvPr id="14" name="auth-node-2">
            <a:extLst xmlns:a="http://schemas.openxmlformats.org/drawingml/2006/main">
              <a:ext uri="{FF2B5EF4-FFF2-40B4-BE49-F238E27FC236}">
                <a16:creationId xmlns:a16="http://schemas.microsoft.com/office/drawing/2014/main" id="{C50F2F6C-8763-4D48-9498-7E7C8D7CF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552700"/>
            <a:ext cx="1676400" cy="1409700"/>
          </a:xfrm>
          <a:prstGeom xmlns:a="http://schemas.openxmlformats.org/drawingml/2006/main" prst="roundRect">
            <a:avLst>
              <a:gd name="adj" fmla="val 8108"/>
            </a:avLst>
          </a:prstGeom>
          <a:solidFill xmlns:a="http://schemas.openxmlformats.org/drawingml/2006/main">
            <a:srgbClr val="ECEEF1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5" name="auth-head-2">
            <a:extLst xmlns:a="http://schemas.openxmlformats.org/drawingml/2006/main">
              <a:ext uri="{FF2B5EF4-FFF2-40B4-BE49-F238E27FC236}">
                <a16:creationId xmlns:a16="http://schemas.microsoft.com/office/drawing/2014/main" id="{56F33E18-1109-4CA4-9466-92768FE60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781300"/>
            <a:ext cx="133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667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rPr>
              <a:t>Account</a:t>
            </a:r>
          </a:p>
        </p:txBody>
      </p:sp>
      <p:sp>
        <p:nvSpPr>
          <p:cNvPr id="16" name="auth-body-2">
            <a:extLst xmlns:a="http://schemas.openxmlformats.org/drawingml/2006/main">
              <a:ext uri="{FF2B5EF4-FFF2-40B4-BE49-F238E27FC236}">
                <a16:creationId xmlns:a16="http://schemas.microsoft.com/office/drawing/2014/main" id="{9E4E3565-1374-454E-82BD-17BB9EE84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276600"/>
            <a:ext cx="133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118"/>
          </a:bodyPr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5F66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>
                <a:solidFill>
                  <a:srgbClr val="5F6672"/>
                </a:solidFill>
                <a:latin typeface="Helvetica Neue"/>
                <a:ea typeface="Helvetica Neue"/>
                <a:cs typeface="Helvetica Neue"/>
              </a:rPr>
              <a:t>Active local state</a:t>
            </a:r>
          </a:p>
        </p:txBody>
      </p:sp>
      <p:sp>
        <p:nvSpPr>
          <p:cNvPr id="17" name="auth-node-3">
            <a:extLst xmlns:a="http://schemas.openxmlformats.org/drawingml/2006/main">
              <a:ext uri="{FF2B5EF4-FFF2-40B4-BE49-F238E27FC236}">
                <a16:creationId xmlns:a16="http://schemas.microsoft.com/office/drawing/2014/main" id="{F5BE9E6B-6E83-42F7-AF1F-14935CD0D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552700"/>
            <a:ext cx="1676400" cy="1409700"/>
          </a:xfrm>
          <a:prstGeom xmlns:a="http://schemas.openxmlformats.org/drawingml/2006/main" prst="roundRect">
            <a:avLst>
              <a:gd name="adj" fmla="val 8108"/>
            </a:avLst>
          </a:prstGeom>
          <a:solidFill xmlns:a="http://schemas.openxmlformats.org/drawingml/2006/main">
            <a:srgbClr val="ECEEF1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8" name="auth-head-3">
            <a:extLst xmlns:a="http://schemas.openxmlformats.org/drawingml/2006/main">
              <a:ext uri="{FF2B5EF4-FFF2-40B4-BE49-F238E27FC236}">
                <a16:creationId xmlns:a16="http://schemas.microsoft.com/office/drawing/2014/main" id="{D61889BF-84BF-4EEA-AE36-9F9F1918D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781300"/>
            <a:ext cx="133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667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rPr>
              <a:t>Event</a:t>
            </a:r>
          </a:p>
        </p:txBody>
      </p:sp>
      <p:sp>
        <p:nvSpPr>
          <p:cNvPr id="19" name="auth-body-3">
            <a:extLst xmlns:a="http://schemas.openxmlformats.org/drawingml/2006/main">
              <a:ext uri="{FF2B5EF4-FFF2-40B4-BE49-F238E27FC236}">
                <a16:creationId xmlns:a16="http://schemas.microsoft.com/office/drawing/2014/main" id="{83BA4CD2-C280-4EE9-996B-B7C28983D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276600"/>
            <a:ext cx="133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118"/>
          </a:bodyPr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5F66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>
                <a:solidFill>
                  <a:srgbClr val="5F6672"/>
                </a:solidFill>
                <a:latin typeface="Helvetica Neue"/>
                <a:ea typeface="Helvetica Neue"/>
                <a:cs typeface="Helvetica Neue"/>
              </a:rPr>
              <a:t>Membership + role</a:t>
            </a:r>
          </a:p>
        </p:txBody>
      </p:sp>
      <p:sp>
        <p:nvSpPr>
          <p:cNvPr id="20" name="auth-node-4">
            <a:extLst xmlns:a="http://schemas.openxmlformats.org/drawingml/2006/main">
              <a:ext uri="{FF2B5EF4-FFF2-40B4-BE49-F238E27FC236}">
                <a16:creationId xmlns:a16="http://schemas.microsoft.com/office/drawing/2014/main" id="{B589CC48-2953-423F-81CF-1A2E847B8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552700"/>
            <a:ext cx="1676400" cy="1409700"/>
          </a:xfrm>
          <a:prstGeom xmlns:a="http://schemas.openxmlformats.org/drawingml/2006/main" prst="roundRect">
            <a:avLst>
              <a:gd name="adj" fmla="val 8108"/>
            </a:avLst>
          </a:prstGeom>
          <a:solidFill xmlns:a="http://schemas.openxmlformats.org/drawingml/2006/main">
            <a:srgbClr val="ECEEF1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1" name="auth-head-4">
            <a:extLst xmlns:a="http://schemas.openxmlformats.org/drawingml/2006/main">
              <a:ext uri="{FF2B5EF4-FFF2-40B4-BE49-F238E27FC236}">
                <a16:creationId xmlns:a16="http://schemas.microsoft.com/office/drawing/2014/main" id="{F523B25C-0CE1-48F6-8E1E-B3F3FFCE1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781300"/>
            <a:ext cx="133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667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rPr>
              <a:t>Duty</a:t>
            </a:r>
          </a:p>
        </p:txBody>
      </p:sp>
      <p:sp>
        <p:nvSpPr>
          <p:cNvPr id="22" name="auth-body-4">
            <a:extLst xmlns:a="http://schemas.openxmlformats.org/drawingml/2006/main">
              <a:ext uri="{FF2B5EF4-FFF2-40B4-BE49-F238E27FC236}">
                <a16:creationId xmlns:a16="http://schemas.microsoft.com/office/drawing/2014/main" id="{F2232987-79A9-40BA-ADDE-8EA992534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276600"/>
            <a:ext cx="133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144"/>
          </a:bodyPr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5F66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>
                <a:solidFill>
                  <a:srgbClr val="5F6672"/>
                </a:solidFill>
                <a:latin typeface="Helvetica Neue"/>
                <a:ea typeface="Helvetica Neue"/>
                <a:cs typeface="Helvetica Neue"/>
              </a:rPr>
              <a:t>Assigned station</a:t>
            </a:r>
          </a:p>
        </p:txBody>
      </p:sp>
      <p:sp>
        <p:nvSpPr>
          <p:cNvPr id="23" name="auth-denied">
            <a:extLst xmlns:a="http://schemas.openxmlformats.org/drawingml/2006/main">
              <a:ext uri="{FF2B5EF4-FFF2-40B4-BE49-F238E27FC236}">
                <a16:creationId xmlns:a16="http://schemas.microsoft.com/office/drawing/2014/main" id="{A016DBAF-BD1A-4D80-8642-6FA22832A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705350"/>
            <a:ext cx="9296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B42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B42318"/>
                </a:solidFill>
                <a:latin typeface="Helvetica Neue"/>
                <a:ea typeface="Helvetica Neue"/>
                <a:cs typeface="Helvetica Neue"/>
              </a:rPr>
              <a:t>Denied paths are part of acceptance: wrong role, wrong event and inactive duty must fail closed.</a:t>
            </a:r>
          </a:p>
        </p:txBody>
      </p:sp>
    </p:spTree>
    <p:extLst>
      <p:ext uri="{BB962C8B-B14F-4D97-AF65-F5344CB8AC3E}">
        <p14:creationId xmlns:p14="http://schemas.microsoft.com/office/powerpoint/2010/main" val="8409129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kicker">
            <a:extLst xmlns:a="http://schemas.openxmlformats.org/drawingml/2006/main">
              <a:ext uri="{FF2B5EF4-FFF2-40B4-BE49-F238E27FC236}">
                <a16:creationId xmlns:a16="http://schemas.microsoft.com/office/drawing/2014/main" id="{11E3AB3D-5CB8-4C11-B82B-6918CC4FF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04 · SCREENING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91596A5-FA5B-476B-9678-E536F5422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0858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rPr>
              <a:t>Four stations. One secure save contract.</a:t>
            </a:r>
          </a:p>
        </p:txBody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5278E50-111F-4836-BFD6-797E41F4E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F66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>
                <a:solidFill>
                  <a:srgbClr val="5F6672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4" name="station-number-01">
            <a:extLst xmlns:a="http://schemas.openxmlformats.org/drawingml/2006/main">
              <a:ext uri="{FF2B5EF4-FFF2-40B4-BE49-F238E27FC236}">
                <a16:creationId xmlns:a16="http://schemas.microsoft.com/office/drawing/2014/main" id="{50113945-EFB0-4A0E-B41E-DB236D9F7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47850"/>
            <a:ext cx="76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7037"/>
          </a:bodyPr>
          <a:lstStyle xmlns:a="http://schemas.openxmlformats.org/drawingml/2006/main"/>
          <a:p xmlns:a="http://schemas.openxmlformats.org/drawingml/2006/main">
            <a:pPr>
              <a:defRPr sz="3375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75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5" name="station-title-01">
            <a:extLst xmlns:a="http://schemas.openxmlformats.org/drawingml/2006/main">
              <a:ext uri="{FF2B5EF4-FFF2-40B4-BE49-F238E27FC236}">
                <a16:creationId xmlns:a16="http://schemas.microsoft.com/office/drawing/2014/main" id="{CC19F7CD-CD1D-4D7B-B9B4-020216B31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1866900"/>
            <a:ext cx="323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rPr>
              <a:t>Visual acuity</a:t>
            </a:r>
          </a:p>
        </p:txBody>
      </p:sp>
      <p:sp>
        <p:nvSpPr>
          <p:cNvPr id="6" name="station-body-01">
            <a:extLst xmlns:a="http://schemas.openxmlformats.org/drawingml/2006/main">
              <a:ext uri="{FF2B5EF4-FFF2-40B4-BE49-F238E27FC236}">
                <a16:creationId xmlns:a16="http://schemas.microsoft.com/office/drawing/2014/main" id="{021DDA81-D6FA-4EAD-85D2-F556E1448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90500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F66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>
                <a:solidFill>
                  <a:srgbClr val="5F6672"/>
                </a:solidFill>
                <a:latin typeface="Helvetica Neue"/>
                <a:ea typeface="Helvetica Neue"/>
                <a:cs typeface="Helvetica Neue"/>
              </a:rPr>
              <a:t>Distance vision and rule flags</a:t>
            </a:r>
          </a:p>
        </p:txBody>
      </p:sp>
      <p:sp>
        <p:nvSpPr>
          <p:cNvPr id="7" name="station-rule-01">
            <a:extLst xmlns:a="http://schemas.openxmlformats.org/drawingml/2006/main">
              <a:ext uri="{FF2B5EF4-FFF2-40B4-BE49-F238E27FC236}">
                <a16:creationId xmlns:a16="http://schemas.microsoft.com/office/drawing/2014/main" id="{08A8E4A0-5369-4F9D-8082-93E5A9BF3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571750"/>
            <a:ext cx="9696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tation-number-02">
            <a:extLst xmlns:a="http://schemas.openxmlformats.org/drawingml/2006/main">
              <a:ext uri="{FF2B5EF4-FFF2-40B4-BE49-F238E27FC236}">
                <a16:creationId xmlns:a16="http://schemas.microsoft.com/office/drawing/2014/main" id="{20BBC543-472A-418D-8AD7-1CA9F2A2A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0"/>
            <a:ext cx="76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7037"/>
          </a:bodyPr>
          <a:lstStyle xmlns:a="http://schemas.openxmlformats.org/drawingml/2006/main"/>
          <a:p xmlns:a="http://schemas.openxmlformats.org/drawingml/2006/main">
            <a:pPr>
              <a:defRPr sz="3375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75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9" name="station-title-02">
            <a:extLst xmlns:a="http://schemas.openxmlformats.org/drawingml/2006/main">
              <a:ext uri="{FF2B5EF4-FFF2-40B4-BE49-F238E27FC236}">
                <a16:creationId xmlns:a16="http://schemas.microsoft.com/office/drawing/2014/main" id="{F6D6E318-DCAB-4342-86D9-2FC6350E5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876550"/>
            <a:ext cx="323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rPr>
              <a:t>Refraction</a:t>
            </a:r>
          </a:p>
        </p:txBody>
      </p:sp>
      <p:sp>
        <p:nvSpPr>
          <p:cNvPr id="10" name="station-body-02">
            <a:extLst xmlns:a="http://schemas.openxmlformats.org/drawingml/2006/main">
              <a:ext uri="{FF2B5EF4-FFF2-40B4-BE49-F238E27FC236}">
                <a16:creationId xmlns:a16="http://schemas.microsoft.com/office/drawing/2014/main" id="{4E9CFADD-7EE3-4CC4-9428-0970BF549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9146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F66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>
                <a:solidFill>
                  <a:srgbClr val="5F6672"/>
                </a:solidFill>
                <a:latin typeface="Helvetica Neue"/>
                <a:ea typeface="Helvetica Neue"/>
                <a:cs typeface="Helvetica Neue"/>
              </a:rPr>
              <a:t>Sphere, cylinder and acuity</a:t>
            </a:r>
          </a:p>
        </p:txBody>
      </p:sp>
      <p:sp>
        <p:nvSpPr>
          <p:cNvPr id="11" name="station-rule-02">
            <a:extLst xmlns:a="http://schemas.openxmlformats.org/drawingml/2006/main">
              <a:ext uri="{FF2B5EF4-FFF2-40B4-BE49-F238E27FC236}">
                <a16:creationId xmlns:a16="http://schemas.microsoft.com/office/drawing/2014/main" id="{956D27B2-1292-4935-91AD-4C3114834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581400"/>
            <a:ext cx="9696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station-number-03">
            <a:extLst xmlns:a="http://schemas.openxmlformats.org/drawingml/2006/main">
              <a:ext uri="{FF2B5EF4-FFF2-40B4-BE49-F238E27FC236}">
                <a16:creationId xmlns:a16="http://schemas.microsoft.com/office/drawing/2014/main" id="{73A79884-D130-458B-9247-3412906A7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67150"/>
            <a:ext cx="76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7037"/>
          </a:bodyPr>
          <a:lstStyle xmlns:a="http://schemas.openxmlformats.org/drawingml/2006/main"/>
          <a:p xmlns:a="http://schemas.openxmlformats.org/drawingml/2006/main">
            <a:pPr>
              <a:defRPr sz="3375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75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3" name="station-title-03">
            <a:extLst xmlns:a="http://schemas.openxmlformats.org/drawingml/2006/main">
              <a:ext uri="{FF2B5EF4-FFF2-40B4-BE49-F238E27FC236}">
                <a16:creationId xmlns:a16="http://schemas.microsoft.com/office/drawing/2014/main" id="{5EF0C6F0-2FDD-4094-B7DE-75319A444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886200"/>
            <a:ext cx="323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rPr>
              <a:t>Colour vision</a:t>
            </a:r>
          </a:p>
        </p:txBody>
      </p:sp>
      <p:sp>
        <p:nvSpPr>
          <p:cNvPr id="14" name="station-body-03">
            <a:extLst xmlns:a="http://schemas.openxmlformats.org/drawingml/2006/main">
              <a:ext uri="{FF2B5EF4-FFF2-40B4-BE49-F238E27FC236}">
                <a16:creationId xmlns:a16="http://schemas.microsoft.com/office/drawing/2014/main" id="{3F7D1050-DC0D-42E5-8CDE-232C8FCF9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92430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F66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>
                <a:solidFill>
                  <a:srgbClr val="5F6672"/>
                </a:solidFill>
                <a:latin typeface="Helvetica Neue"/>
                <a:ea typeface="Helvetica Neue"/>
                <a:cs typeface="Helvetica Neue"/>
              </a:rPr>
              <a:t>Plate results and acknowledgement</a:t>
            </a:r>
          </a:p>
        </p:txBody>
      </p:sp>
      <p:sp>
        <p:nvSpPr>
          <p:cNvPr id="15" name="station-rule-03">
            <a:extLst xmlns:a="http://schemas.openxmlformats.org/drawingml/2006/main">
              <a:ext uri="{FF2B5EF4-FFF2-40B4-BE49-F238E27FC236}">
                <a16:creationId xmlns:a16="http://schemas.microsoft.com/office/drawing/2014/main" id="{E20DE977-EAD6-4F59-9338-B9EF217C0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591050"/>
            <a:ext cx="9696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station-number-04">
            <a:extLst xmlns:a="http://schemas.openxmlformats.org/drawingml/2006/main">
              <a:ext uri="{FF2B5EF4-FFF2-40B4-BE49-F238E27FC236}">
                <a16:creationId xmlns:a16="http://schemas.microsoft.com/office/drawing/2014/main" id="{8118423B-4419-4BB9-BA6E-97E75C388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76800"/>
            <a:ext cx="76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7037"/>
          </a:bodyPr>
          <a:lstStyle xmlns:a="http://schemas.openxmlformats.org/drawingml/2006/main"/>
          <a:p xmlns:a="http://schemas.openxmlformats.org/drawingml/2006/main">
            <a:pPr>
              <a:defRPr sz="33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17" name="station-title-04">
            <a:extLst xmlns:a="http://schemas.openxmlformats.org/drawingml/2006/main">
              <a:ext uri="{FF2B5EF4-FFF2-40B4-BE49-F238E27FC236}">
                <a16:creationId xmlns:a16="http://schemas.microsoft.com/office/drawing/2014/main" id="{F9DC702D-42E2-4D68-B8D1-59C31DDDE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895850"/>
            <a:ext cx="323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rPr>
              <a:t>Eye health</a:t>
            </a:r>
          </a:p>
        </p:txBody>
      </p:sp>
      <p:sp>
        <p:nvSpPr>
          <p:cNvPr id="18" name="station-body-04">
            <a:extLst xmlns:a="http://schemas.openxmlformats.org/drawingml/2006/main">
              <a:ext uri="{FF2B5EF4-FFF2-40B4-BE49-F238E27FC236}">
                <a16:creationId xmlns:a16="http://schemas.microsoft.com/office/drawing/2014/main" id="{3ABD03DA-C209-4ACB-8BE6-EFA3EDE72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9339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F66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>
                <a:solidFill>
                  <a:srgbClr val="5F6672"/>
                </a:solidFill>
                <a:latin typeface="Helvetica Neue"/>
                <a:ea typeface="Helvetica Neue"/>
                <a:cs typeface="Helvetica Neue"/>
              </a:rPr>
              <a:t>Observation, urgency and notes</a:t>
            </a:r>
          </a:p>
        </p:txBody>
      </p:sp>
      <p:sp>
        <p:nvSpPr>
          <p:cNvPr id="19" name="station-rule-04">
            <a:extLst xmlns:a="http://schemas.openxmlformats.org/drawingml/2006/main">
              <a:ext uri="{FF2B5EF4-FFF2-40B4-BE49-F238E27FC236}">
                <a16:creationId xmlns:a16="http://schemas.microsoft.com/office/drawing/2014/main" id="{C7955410-68E2-431D-A09B-4DA1C8C76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600700"/>
            <a:ext cx="9696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35580229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kicker">
            <a:extLst xmlns:a="http://schemas.openxmlformats.org/drawingml/2006/main">
              <a:ext uri="{FF2B5EF4-FFF2-40B4-BE49-F238E27FC236}">
                <a16:creationId xmlns:a16="http://schemas.microsoft.com/office/drawing/2014/main" id="{05A06861-8458-459A-9BE8-9E7F25960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05 · OFFLINE PWA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70FCBEF-DF51-4215-ADFB-53F20C8FE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0858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rPr>
              <a:t>Offline work stays encrypted and replay-safe</a:t>
            </a:r>
          </a:p>
        </p:txBody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69DE468-7356-4BF0-A201-5ED8D00CA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F66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>
                <a:solidFill>
                  <a:srgbClr val="5F6672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4" name="offline-arrow-0">
            <a:extLst xmlns:a="http://schemas.openxmlformats.org/drawingml/2006/main">
              <a:ext uri="{FF2B5EF4-FFF2-40B4-BE49-F238E27FC236}">
                <a16:creationId xmlns:a16="http://schemas.microsoft.com/office/drawing/2014/main" id="{147621B5-3225-462F-9F26-00AC01D1B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171825"/>
            <a:ext cx="6858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CD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offline-arrow-1">
            <a:extLst xmlns:a="http://schemas.openxmlformats.org/drawingml/2006/main">
              <a:ext uri="{FF2B5EF4-FFF2-40B4-BE49-F238E27FC236}">
                <a16:creationId xmlns:a16="http://schemas.microsoft.com/office/drawing/2014/main" id="{D95B8C49-2EAF-4329-B061-D5D494484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171825"/>
            <a:ext cx="6858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26A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offline-arrow-2">
            <a:extLst xmlns:a="http://schemas.openxmlformats.org/drawingml/2006/main">
              <a:ext uri="{FF2B5EF4-FFF2-40B4-BE49-F238E27FC236}">
                <a16:creationId xmlns:a16="http://schemas.microsoft.com/office/drawing/2014/main" id="{42C73CE0-56BF-4EE5-B896-38A2E341E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171825"/>
            <a:ext cx="6858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CD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offline-arrow-3">
            <a:extLst xmlns:a="http://schemas.openxmlformats.org/drawingml/2006/main">
              <a:ext uri="{FF2B5EF4-FFF2-40B4-BE49-F238E27FC236}">
                <a16:creationId xmlns:a16="http://schemas.microsoft.com/office/drawing/2014/main" id="{E85AD67E-5F35-4BD7-AA16-EDD380DC0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171825"/>
            <a:ext cx="6858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CD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offline-node-0">
            <a:extLst xmlns:a="http://schemas.openxmlformats.org/drawingml/2006/main">
              <a:ext uri="{FF2B5EF4-FFF2-40B4-BE49-F238E27FC236}">
                <a16:creationId xmlns:a16="http://schemas.microsoft.com/office/drawing/2014/main" id="{247873FD-E1FE-4C45-865D-8DF325ED2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28900"/>
            <a:ext cx="146685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ECEEF1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offline-head-0">
            <a:extLst xmlns:a="http://schemas.openxmlformats.org/drawingml/2006/main">
              <a:ext uri="{FF2B5EF4-FFF2-40B4-BE49-F238E27FC236}">
                <a16:creationId xmlns:a16="http://schemas.microsoft.com/office/drawing/2014/main" id="{BAF1CDAC-DB9A-4EEB-83E3-46CBE4C31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57500"/>
            <a:ext cx="1200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rPr>
              <a:t>Prepare</a:t>
            </a:r>
          </a:p>
        </p:txBody>
      </p:sp>
      <p:sp>
        <p:nvSpPr>
          <p:cNvPr id="10" name="offline-body-0">
            <a:extLst xmlns:a="http://schemas.openxmlformats.org/drawingml/2006/main">
              <a:ext uri="{FF2B5EF4-FFF2-40B4-BE49-F238E27FC236}">
                <a16:creationId xmlns:a16="http://schemas.microsoft.com/office/drawing/2014/main" id="{51E31997-E0CD-4D32-AAEA-D62C85157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71850"/>
            <a:ext cx="123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9032"/>
          </a:bodyPr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5F66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>
                <a:solidFill>
                  <a:srgbClr val="5F6672"/>
                </a:solidFill>
                <a:latin typeface="Helvetica Neue"/>
                <a:ea typeface="Helvetica Neue"/>
                <a:cs typeface="Helvetica Neue"/>
              </a:rPr>
              <a:t>Assigned pack</a:t>
            </a:r>
          </a:p>
        </p:txBody>
      </p:sp>
      <p:sp>
        <p:nvSpPr>
          <p:cNvPr id="11" name="offline-node-1">
            <a:extLst xmlns:a="http://schemas.openxmlformats.org/drawingml/2006/main">
              <a:ext uri="{FF2B5EF4-FFF2-40B4-BE49-F238E27FC236}">
                <a16:creationId xmlns:a16="http://schemas.microsoft.com/office/drawing/2014/main" id="{786C9493-F7D6-4FD3-835F-2EEC81C35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628900"/>
            <a:ext cx="146685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ECEEF1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2" name="offline-head-1">
            <a:extLst xmlns:a="http://schemas.openxmlformats.org/drawingml/2006/main">
              <a:ext uri="{FF2B5EF4-FFF2-40B4-BE49-F238E27FC236}">
                <a16:creationId xmlns:a16="http://schemas.microsoft.com/office/drawing/2014/main" id="{2A6B1BEC-0DBF-460B-BCA6-125B8B376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857500"/>
            <a:ext cx="1200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rPr>
              <a:t>Go offline</a:t>
            </a:r>
          </a:p>
        </p:txBody>
      </p:sp>
      <p:sp>
        <p:nvSpPr>
          <p:cNvPr id="13" name="offline-body-1">
            <a:extLst xmlns:a="http://schemas.openxmlformats.org/drawingml/2006/main">
              <a:ext uri="{FF2B5EF4-FFF2-40B4-BE49-F238E27FC236}">
                <a16:creationId xmlns:a16="http://schemas.microsoft.com/office/drawing/2014/main" id="{7A861168-CF93-4ED4-95BC-E302E9EB0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371850"/>
            <a:ext cx="123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5F66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>
                <a:solidFill>
                  <a:srgbClr val="5F6672"/>
                </a:solidFill>
                <a:latin typeface="Helvetica Neue"/>
                <a:ea typeface="Helvetica Neue"/>
                <a:cs typeface="Helvetica Neue"/>
              </a:rPr>
              <a:t>Cached shell</a:t>
            </a:r>
          </a:p>
        </p:txBody>
      </p:sp>
      <p:sp>
        <p:nvSpPr>
          <p:cNvPr id="14" name="offline-node-2">
            <a:extLst xmlns:a="http://schemas.openxmlformats.org/drawingml/2006/main">
              <a:ext uri="{FF2B5EF4-FFF2-40B4-BE49-F238E27FC236}">
                <a16:creationId xmlns:a16="http://schemas.microsoft.com/office/drawing/2014/main" id="{57A5B0E1-215F-4CE9-ABDE-BD6F9592B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628900"/>
            <a:ext cx="146685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FFF4E5"/>
          </a:solidFill>
          <a:ln xmlns:a="http://schemas.openxmlformats.org/drawingml/2006/main" w="9525">
            <a:solidFill>
              <a:srgbClr val="B26A00"/>
            </a:solidFill>
            <a:prstDash val="solid"/>
          </a:ln>
        </p:spPr>
      </p:sp>
      <p:sp>
        <p:nvSpPr>
          <p:cNvPr id="15" name="offline-head-2">
            <a:extLst xmlns:a="http://schemas.openxmlformats.org/drawingml/2006/main">
              <a:ext uri="{FF2B5EF4-FFF2-40B4-BE49-F238E27FC236}">
                <a16:creationId xmlns:a16="http://schemas.microsoft.com/office/drawing/2014/main" id="{DB3387F9-4B62-48DD-912D-AB6F923BC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857500"/>
            <a:ext cx="1200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rPr>
              <a:t>Save</a:t>
            </a:r>
          </a:p>
        </p:txBody>
      </p:sp>
      <p:sp>
        <p:nvSpPr>
          <p:cNvPr id="16" name="offline-body-2">
            <a:extLst xmlns:a="http://schemas.openxmlformats.org/drawingml/2006/main">
              <a:ext uri="{FF2B5EF4-FFF2-40B4-BE49-F238E27FC236}">
                <a16:creationId xmlns:a16="http://schemas.microsoft.com/office/drawing/2014/main" id="{42EFA65B-C970-478B-8671-6EB88D044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371850"/>
            <a:ext cx="123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118"/>
          </a:bodyPr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5F66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>
                <a:solidFill>
                  <a:srgbClr val="5F6672"/>
                </a:solidFill>
                <a:latin typeface="Helvetica Neue"/>
                <a:ea typeface="Helvetica Neue"/>
                <a:cs typeface="Helvetica Neue"/>
              </a:rPr>
              <a:t>AES-GCM outbox</a:t>
            </a:r>
          </a:p>
        </p:txBody>
      </p:sp>
      <p:sp>
        <p:nvSpPr>
          <p:cNvPr id="17" name="offline-node-3">
            <a:extLst xmlns:a="http://schemas.openxmlformats.org/drawingml/2006/main">
              <a:ext uri="{FF2B5EF4-FFF2-40B4-BE49-F238E27FC236}">
                <a16:creationId xmlns:a16="http://schemas.microsoft.com/office/drawing/2014/main" id="{1A913C90-37C2-4389-BD4A-0C4C83E4F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628900"/>
            <a:ext cx="146685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ECEEF1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8" name="offline-head-3">
            <a:extLst xmlns:a="http://schemas.openxmlformats.org/drawingml/2006/main">
              <a:ext uri="{FF2B5EF4-FFF2-40B4-BE49-F238E27FC236}">
                <a16:creationId xmlns:a16="http://schemas.microsoft.com/office/drawing/2014/main" id="{AE7EDCE6-5FF7-4CE7-BC30-BC907B1E2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857500"/>
            <a:ext cx="1200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793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rPr>
              <a:t>Reconnect</a:t>
            </a:r>
          </a:p>
        </p:txBody>
      </p:sp>
      <p:sp>
        <p:nvSpPr>
          <p:cNvPr id="19" name="offline-body-3">
            <a:extLst xmlns:a="http://schemas.openxmlformats.org/drawingml/2006/main">
              <a:ext uri="{FF2B5EF4-FFF2-40B4-BE49-F238E27FC236}">
                <a16:creationId xmlns:a16="http://schemas.microsoft.com/office/drawing/2014/main" id="{B840AEA0-5A0C-43F4-B92A-D8AA602EF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371850"/>
            <a:ext cx="123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118"/>
          </a:bodyPr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5F66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>
                <a:solidFill>
                  <a:srgbClr val="5F6672"/>
                </a:solidFill>
                <a:latin typeface="Helvetica Neue"/>
                <a:ea typeface="Helvetica Neue"/>
                <a:cs typeface="Helvetica Neue"/>
              </a:rPr>
              <a:t>Idempotent batch</a:t>
            </a:r>
          </a:p>
        </p:txBody>
      </p:sp>
      <p:sp>
        <p:nvSpPr>
          <p:cNvPr id="20" name="offline-node-4">
            <a:extLst xmlns:a="http://schemas.openxmlformats.org/drawingml/2006/main">
              <a:ext uri="{FF2B5EF4-FFF2-40B4-BE49-F238E27FC236}">
                <a16:creationId xmlns:a16="http://schemas.microsoft.com/office/drawing/2014/main" id="{D3CEB2F5-D0FD-4009-B176-673262DB8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628900"/>
            <a:ext cx="146685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ECEEF1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1" name="offline-head-4">
            <a:extLst xmlns:a="http://schemas.openxmlformats.org/drawingml/2006/main">
              <a:ext uri="{FF2B5EF4-FFF2-40B4-BE49-F238E27FC236}">
                <a16:creationId xmlns:a16="http://schemas.microsoft.com/office/drawing/2014/main" id="{9635DDA3-B8EC-40D3-B90E-0CCAF60F1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2857500"/>
            <a:ext cx="1200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rPr>
              <a:t>Resolve</a:t>
            </a:r>
          </a:p>
        </p:txBody>
      </p:sp>
      <p:sp>
        <p:nvSpPr>
          <p:cNvPr id="22" name="offline-body-4">
            <a:extLst xmlns:a="http://schemas.openxmlformats.org/drawingml/2006/main">
              <a:ext uri="{FF2B5EF4-FFF2-40B4-BE49-F238E27FC236}">
                <a16:creationId xmlns:a16="http://schemas.microsoft.com/office/drawing/2014/main" id="{1CAD1F26-4CA3-4812-A15B-142ABEA65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3371850"/>
            <a:ext cx="123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118"/>
          </a:bodyPr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5F66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>
                <a:solidFill>
                  <a:srgbClr val="5F6672"/>
                </a:solidFill>
                <a:latin typeface="Helvetica Neue"/>
                <a:ea typeface="Helvetica Neue"/>
                <a:cs typeface="Helvetica Neue"/>
              </a:rPr>
              <a:t>Applied / conflict</a:t>
            </a:r>
          </a:p>
        </p:txBody>
      </p:sp>
      <p:sp>
        <p:nvSpPr>
          <p:cNvPr id="23" name="offline-takeaway">
            <a:extLst xmlns:a="http://schemas.openxmlformats.org/drawingml/2006/main">
              <a:ext uri="{FF2B5EF4-FFF2-40B4-BE49-F238E27FC236}">
                <a16:creationId xmlns:a16="http://schemas.microsoft.com/office/drawing/2014/main" id="{175961B9-592E-441F-948E-2AF4EC0C4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762500"/>
            <a:ext cx="95631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7333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rPr>
              <a:t>The service worker caches code. IndexedDB separately encrypts clinical work and purges it on expiry, logout or owner change.</a:t>
            </a:r>
          </a:p>
        </p:txBody>
      </p:sp>
    </p:spTree>
    <p:extLst>
      <p:ext uri="{BB962C8B-B14F-4D97-AF65-F5344CB8AC3E}">
        <p14:creationId xmlns:p14="http://schemas.microsoft.com/office/powerpoint/2010/main" val="50486841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kicker">
            <a:extLst xmlns:a="http://schemas.openxmlformats.org/drawingml/2006/main">
              <a:ext uri="{FF2B5EF4-FFF2-40B4-BE49-F238E27FC236}">
                <a16:creationId xmlns:a16="http://schemas.microsoft.com/office/drawing/2014/main" id="{39D208B8-DB00-4C2A-85EC-10581F425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06 · PRODUCT EVIDENCE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45FC857-6EEE-4B11-8DC7-86702E78E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0858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324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rPr>
              <a:t>One workspace for preparation and live operations</a:t>
            </a:r>
          </a:p>
        </p:txBody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6E8BD78-1D32-4894-8447-346C5255D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F66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>
                <a:solidFill>
                  <a:srgbClr val="5F6672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302a0fdf8843ee"/>
          <a:stretch xmlns:a="http://schemas.openxmlformats.org/drawingml/2006/main"/>
        </p:blipFill>
        <p:spPr>
          <a:xfrm xmlns:a="http://schemas.openxmlformats.org/drawingml/2006/main">
            <a:off x="865287" y="1809750"/>
            <a:ext cx="6041827" cy="3790950"/>
          </a:xfrm>
          <a:prstGeom xmlns:a="http://schemas.openxmlformats.org/drawingml/2006/main" prst="rect">
            <a:avLst/>
          </a:prstGeom>
        </p:spPr>
      </p:pic>
      <p:sp>
        <p:nvSpPr>
          <p:cNvPr id="5" name="prepare-title">
            <a:extLst xmlns:a="http://schemas.openxmlformats.org/drawingml/2006/main">
              <a:ext uri="{FF2B5EF4-FFF2-40B4-BE49-F238E27FC236}">
                <a16:creationId xmlns:a16="http://schemas.microsoft.com/office/drawing/2014/main" id="{12C076C3-FCA4-4908-95EA-8A392405D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866900"/>
            <a:ext cx="314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rPr>
              <a:t>Prepare</a:t>
            </a:r>
          </a:p>
        </p:txBody>
      </p:sp>
      <p:sp>
        <p:nvSpPr>
          <p:cNvPr id="6" name="prepare-body">
            <a:extLst xmlns:a="http://schemas.openxmlformats.org/drawingml/2006/main">
              <a:ext uri="{FF2B5EF4-FFF2-40B4-BE49-F238E27FC236}">
                <a16:creationId xmlns:a16="http://schemas.microsoft.com/office/drawing/2014/main" id="{44C805AA-64FF-444A-AD95-3D92AC4D8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400300"/>
            <a:ext cx="33147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F66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>
                <a:solidFill>
                  <a:srgbClr val="5F6672"/>
                </a:solidFill>
                <a:latin typeface="Helvetica Neue"/>
                <a:ea typeface="Helvetica Neue"/>
                <a:cs typeface="Helvetica Neue"/>
              </a:rPr>
              <a:t>Draft the event, allocate stations and assign staff before publishing.</a:t>
            </a:r>
          </a:p>
        </p:txBody>
      </p:sp>
      <p:sp>
        <p:nvSpPr>
          <p:cNvPr id="7" name="operate-title">
            <a:extLst xmlns:a="http://schemas.openxmlformats.org/drawingml/2006/main">
              <a:ext uri="{FF2B5EF4-FFF2-40B4-BE49-F238E27FC236}">
                <a16:creationId xmlns:a16="http://schemas.microsoft.com/office/drawing/2014/main" id="{DA1B2A1F-EEC2-4F54-B080-2452FFFF4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48100"/>
            <a:ext cx="314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Operate</a:t>
            </a:r>
          </a:p>
        </p:txBody>
      </p:sp>
      <p:sp>
        <p:nvSpPr>
          <p:cNvPr id="8" name="operate-body">
            <a:extLst xmlns:a="http://schemas.openxmlformats.org/drawingml/2006/main">
              <a:ext uri="{FF2B5EF4-FFF2-40B4-BE49-F238E27FC236}">
                <a16:creationId xmlns:a16="http://schemas.microsoft.com/office/drawing/2014/main" id="{A3E50E67-6DD9-4ABB-A1B4-5BC3EEBFB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381500"/>
            <a:ext cx="33147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970"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F66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>
                <a:solidFill>
                  <a:srgbClr val="5F6672"/>
                </a:solidFill>
                <a:latin typeface="Helvetica Neue"/>
                <a:ea typeface="Helvetica Neue"/>
                <a:cs typeface="Helvetica Neue"/>
              </a:rPr>
              <a:t>Track queues, screening completion and exceptions without navigating away from the event.</a:t>
            </a:r>
          </a:p>
        </p:txBody>
      </p:sp>
    </p:spTree>
    <p:extLst>
      <p:ext uri="{BB962C8B-B14F-4D97-AF65-F5344CB8AC3E}">
        <p14:creationId xmlns:p14="http://schemas.microsoft.com/office/powerpoint/2010/main" val="883488856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kicker">
            <a:extLst xmlns:a="http://schemas.openxmlformats.org/drawingml/2006/main">
              <a:ext uri="{FF2B5EF4-FFF2-40B4-BE49-F238E27FC236}">
                <a16:creationId xmlns:a16="http://schemas.microsoft.com/office/drawing/2014/main" id="{ADF4133E-41DD-44C2-8357-1CA06C670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07 · ARCHITECTURE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BC412BD-9805-4776-8E9F-75E0379E9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0858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rPr>
              <a:t>Identity is public. Clinical data stays private.</a:t>
            </a:r>
          </a:p>
        </p:txBody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D4615F0-AE06-48E8-B884-FDC495631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F66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>
                <a:solidFill>
                  <a:srgbClr val="5F6672"/>
                </a:solidFill>
                <a:latin typeface="Helvetica Neue"/>
                <a:ea typeface="Helvetica Neue"/>
                <a:cs typeface="Helvetica Neue"/>
              </a:rPr>
              <a:t>08</a:t>
            </a:r>
          </a:p>
        </p:txBody>
      </p:sp>
      <p:sp>
        <p:nvSpPr>
          <p:cNvPr id="4" name="deploy-arrow-0">
            <a:extLst xmlns:a="http://schemas.openxmlformats.org/drawingml/2006/main">
              <a:ext uri="{FF2B5EF4-FFF2-40B4-BE49-F238E27FC236}">
                <a16:creationId xmlns:a16="http://schemas.microsoft.com/office/drawing/2014/main" id="{67CD1A71-A98B-47A7-8819-697A58D09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276600"/>
            <a:ext cx="5334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CD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deploy-arrow-1">
            <a:extLst xmlns:a="http://schemas.openxmlformats.org/drawingml/2006/main">
              <a:ext uri="{FF2B5EF4-FFF2-40B4-BE49-F238E27FC236}">
                <a16:creationId xmlns:a16="http://schemas.microsoft.com/office/drawing/2014/main" id="{5E545E13-D13B-4C2C-B75E-842A369AC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276600"/>
            <a:ext cx="5334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CD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deploy-arrow-2">
            <a:extLst xmlns:a="http://schemas.openxmlformats.org/drawingml/2006/main">
              <a:ext uri="{FF2B5EF4-FFF2-40B4-BE49-F238E27FC236}">
                <a16:creationId xmlns:a16="http://schemas.microsoft.com/office/drawing/2014/main" id="{5A19371B-C23D-4EBD-8907-5C778E603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276600"/>
            <a:ext cx="5334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CD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deploy-arrow-3">
            <a:extLst xmlns:a="http://schemas.openxmlformats.org/drawingml/2006/main">
              <a:ext uri="{FF2B5EF4-FFF2-40B4-BE49-F238E27FC236}">
                <a16:creationId xmlns:a16="http://schemas.microsoft.com/office/drawing/2014/main" id="{1D04F2DE-1895-49CC-91C8-E1E4C9CE2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3276600"/>
            <a:ext cx="5334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CD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deploy-node-0">
            <a:extLst xmlns:a="http://schemas.openxmlformats.org/drawingml/2006/main">
              <a:ext uri="{FF2B5EF4-FFF2-40B4-BE49-F238E27FC236}">
                <a16:creationId xmlns:a16="http://schemas.microsoft.com/office/drawing/2014/main" id="{70794806-CBFB-460D-9C9F-6AEBA8FA8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24150"/>
            <a:ext cx="17145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E8F6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deploy-title-0">
            <a:extLst xmlns:a="http://schemas.openxmlformats.org/drawingml/2006/main">
              <a:ext uri="{FF2B5EF4-FFF2-40B4-BE49-F238E27FC236}">
                <a16:creationId xmlns:a16="http://schemas.microsoft.com/office/drawing/2014/main" id="{4A12B06F-44E0-4F5A-9A9F-B56E8F400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52750"/>
            <a:ext cx="1485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6919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rPr>
              <a:t>Browser PWA</a:t>
            </a:r>
          </a:p>
        </p:txBody>
      </p:sp>
      <p:sp>
        <p:nvSpPr>
          <p:cNvPr id="10" name="deploy-body-0">
            <a:extLst xmlns:a="http://schemas.openxmlformats.org/drawingml/2006/main">
              <a:ext uri="{FF2B5EF4-FFF2-40B4-BE49-F238E27FC236}">
                <a16:creationId xmlns:a16="http://schemas.microsoft.com/office/drawing/2014/main" id="{7E71947E-9828-498E-ABDB-7C1001EA8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86150"/>
            <a:ext cx="1485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792"/>
          </a:bodyPr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5F66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>
                <a:solidFill>
                  <a:srgbClr val="5F6672"/>
                </a:solidFill>
                <a:latin typeface="Helvetica Neue"/>
                <a:ea typeface="Helvetica Neue"/>
                <a:cs typeface="Helvetica Neue"/>
              </a:rPr>
              <a:t>Amplify + encrypted IndexedDB</a:t>
            </a:r>
          </a:p>
        </p:txBody>
      </p:sp>
      <p:sp>
        <p:nvSpPr>
          <p:cNvPr id="11" name="deploy-node-1">
            <a:extLst xmlns:a="http://schemas.openxmlformats.org/drawingml/2006/main">
              <a:ext uri="{FF2B5EF4-FFF2-40B4-BE49-F238E27FC236}">
                <a16:creationId xmlns:a16="http://schemas.microsoft.com/office/drawing/2014/main" id="{23F24E34-6128-471D-B076-CEB15FD83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724150"/>
            <a:ext cx="17145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ECEEF1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2" name="deploy-title-1">
            <a:extLst xmlns:a="http://schemas.openxmlformats.org/drawingml/2006/main">
              <a:ext uri="{FF2B5EF4-FFF2-40B4-BE49-F238E27FC236}">
                <a16:creationId xmlns:a16="http://schemas.microsoft.com/office/drawing/2014/main" id="{37C58CA3-5F4E-4F09-9E54-C78A98B3E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952750"/>
            <a:ext cx="1485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rPr>
              <a:t>Nginx</a:t>
            </a:r>
          </a:p>
        </p:txBody>
      </p:sp>
      <p:sp>
        <p:nvSpPr>
          <p:cNvPr id="13" name="deploy-body-1">
            <a:extLst xmlns:a="http://schemas.openxmlformats.org/drawingml/2006/main">
              <a:ext uri="{FF2B5EF4-FFF2-40B4-BE49-F238E27FC236}">
                <a16:creationId xmlns:a16="http://schemas.microsoft.com/office/drawing/2014/main" id="{EF2039BA-C2CC-434F-8818-FA1BA0B76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486150"/>
            <a:ext cx="1485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5F66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>
                <a:solidFill>
                  <a:srgbClr val="5F6672"/>
                </a:solidFill>
                <a:latin typeface="Helvetica Neue"/>
                <a:ea typeface="Helvetica Neue"/>
                <a:cs typeface="Helvetica Neue"/>
              </a:rPr>
              <a:t>TLS + /api proxy</a:t>
            </a:r>
          </a:p>
        </p:txBody>
      </p:sp>
      <p:sp>
        <p:nvSpPr>
          <p:cNvPr id="14" name="deploy-node-2">
            <a:extLst xmlns:a="http://schemas.openxmlformats.org/drawingml/2006/main">
              <a:ext uri="{FF2B5EF4-FFF2-40B4-BE49-F238E27FC236}">
                <a16:creationId xmlns:a16="http://schemas.microsoft.com/office/drawing/2014/main" id="{76C4CAE8-5E6F-44A5-94D4-FE95DBA1F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724150"/>
            <a:ext cx="17145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ECEEF1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5" name="deploy-title-2">
            <a:extLst xmlns:a="http://schemas.openxmlformats.org/drawingml/2006/main">
              <a:ext uri="{FF2B5EF4-FFF2-40B4-BE49-F238E27FC236}">
                <a16:creationId xmlns:a16="http://schemas.microsoft.com/office/drawing/2014/main" id="{50279459-5D48-4069-AF05-21E7E6E15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952750"/>
            <a:ext cx="1485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rPr>
              <a:t>Express</a:t>
            </a:r>
          </a:p>
        </p:txBody>
      </p:sp>
      <p:sp>
        <p:nvSpPr>
          <p:cNvPr id="16" name="deploy-body-2">
            <a:extLst xmlns:a="http://schemas.openxmlformats.org/drawingml/2006/main">
              <a:ext uri="{FF2B5EF4-FFF2-40B4-BE49-F238E27FC236}">
                <a16:creationId xmlns:a16="http://schemas.microsoft.com/office/drawing/2014/main" id="{FA680C33-A032-44E2-A252-5B6010E9F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486150"/>
            <a:ext cx="1485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5F66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>
                <a:solidFill>
                  <a:srgbClr val="5F6672"/>
                </a:solidFill>
                <a:latin typeface="Helvetica Neue"/>
                <a:ea typeface="Helvetica Neue"/>
                <a:cs typeface="Helvetica Neue"/>
              </a:rPr>
              <a:t>API + workers</a:t>
            </a:r>
          </a:p>
        </p:txBody>
      </p:sp>
      <p:sp>
        <p:nvSpPr>
          <p:cNvPr id="17" name="deploy-node-3">
            <a:extLst xmlns:a="http://schemas.openxmlformats.org/drawingml/2006/main">
              <a:ext uri="{FF2B5EF4-FFF2-40B4-BE49-F238E27FC236}">
                <a16:creationId xmlns:a16="http://schemas.microsoft.com/office/drawing/2014/main" id="{700C7B95-D1B1-4BC8-B551-B13B5E8EB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724150"/>
            <a:ext cx="17145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EAF7F2"/>
          </a:solidFill>
          <a:ln xmlns:a="http://schemas.openxmlformats.org/drawingml/2006/main" w="9525">
            <a:solidFill>
              <a:srgbClr val="14966A"/>
            </a:solidFill>
            <a:prstDash val="solid"/>
          </a:ln>
        </p:spPr>
      </p:sp>
      <p:sp>
        <p:nvSpPr>
          <p:cNvPr id="18" name="deploy-title-3">
            <a:extLst xmlns:a="http://schemas.openxmlformats.org/drawingml/2006/main">
              <a:ext uri="{FF2B5EF4-FFF2-40B4-BE49-F238E27FC236}">
                <a16:creationId xmlns:a16="http://schemas.microsoft.com/office/drawing/2014/main" id="{E8A2ECFA-7AEB-47E0-9C97-74D6CB724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952750"/>
            <a:ext cx="1485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9523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rPr>
              <a:t>Private RDS</a:t>
            </a:r>
          </a:p>
        </p:txBody>
      </p:sp>
      <p:sp>
        <p:nvSpPr>
          <p:cNvPr id="19" name="deploy-body-3">
            <a:extLst xmlns:a="http://schemas.openxmlformats.org/drawingml/2006/main">
              <a:ext uri="{FF2B5EF4-FFF2-40B4-BE49-F238E27FC236}">
                <a16:creationId xmlns:a16="http://schemas.microsoft.com/office/drawing/2014/main" id="{399185A0-3EE5-405B-AF45-9D70B0541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486150"/>
            <a:ext cx="1485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792"/>
          </a:bodyPr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5F66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>
                <a:solidFill>
                  <a:srgbClr val="5F6672"/>
                </a:solidFill>
                <a:latin typeface="Helvetica Neue"/>
                <a:ea typeface="Helvetica Neue"/>
                <a:cs typeface="Helvetica Neue"/>
              </a:rPr>
              <a:t>Encrypted PostgreSQL</a:t>
            </a:r>
          </a:p>
        </p:txBody>
      </p:sp>
      <p:sp>
        <p:nvSpPr>
          <p:cNvPr id="20" name="deploy-node-4">
            <a:extLst xmlns:a="http://schemas.openxmlformats.org/drawingml/2006/main">
              <a:ext uri="{FF2B5EF4-FFF2-40B4-BE49-F238E27FC236}">
                <a16:creationId xmlns:a16="http://schemas.microsoft.com/office/drawing/2014/main" id="{D8318BBF-3174-4BB1-B867-3EA153D9A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2724150"/>
            <a:ext cx="14859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4E5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1" name="deploy-title-4">
            <a:extLst xmlns:a="http://schemas.openxmlformats.org/drawingml/2006/main">
              <a:ext uri="{FF2B5EF4-FFF2-40B4-BE49-F238E27FC236}">
                <a16:creationId xmlns:a16="http://schemas.microsoft.com/office/drawing/2014/main" id="{C47BA459-D1BF-4A3E-A017-E2812430B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2952750"/>
            <a:ext cx="1257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rPr>
              <a:t>Recovery</a:t>
            </a:r>
          </a:p>
        </p:txBody>
      </p:sp>
      <p:sp>
        <p:nvSpPr>
          <p:cNvPr id="22" name="deploy-body-4">
            <a:extLst xmlns:a="http://schemas.openxmlformats.org/drawingml/2006/main">
              <a:ext uri="{FF2B5EF4-FFF2-40B4-BE49-F238E27FC236}">
                <a16:creationId xmlns:a16="http://schemas.microsoft.com/office/drawing/2014/main" id="{93B14646-E357-4B7B-B9D4-D7BFCA3C1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3486150"/>
            <a:ext cx="1257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792"/>
          </a:bodyPr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5F66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>
                <a:solidFill>
                  <a:srgbClr val="5F6672"/>
                </a:solidFill>
                <a:latin typeface="Helvetica Neue"/>
                <a:ea typeface="Helvetica Neue"/>
                <a:cs typeface="Helvetica Neue"/>
              </a:rPr>
              <a:t>7-day backups + snapshot</a:t>
            </a:r>
          </a:p>
        </p:txBody>
      </p:sp>
      <p:sp>
        <p:nvSpPr>
          <p:cNvPr id="23" name="cognito-label">
            <a:extLst xmlns:a="http://schemas.openxmlformats.org/drawingml/2006/main">
              <a:ext uri="{FF2B5EF4-FFF2-40B4-BE49-F238E27FC236}">
                <a16:creationId xmlns:a16="http://schemas.microsoft.com/office/drawing/2014/main" id="{0A1B1081-6125-46CE-85B6-A4AE5D0EF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866900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Cognito PKCE</a:t>
            </a:r>
          </a:p>
        </p:txBody>
      </p:sp>
      <p:sp>
        <p:nvSpPr>
          <p:cNvPr id="24" name="deploy-limit">
            <a:extLst xmlns:a="http://schemas.openxmlformats.org/drawingml/2006/main">
              <a:ext uri="{FF2B5EF4-FFF2-40B4-BE49-F238E27FC236}">
                <a16:creationId xmlns:a16="http://schemas.microsoft.com/office/drawing/2014/main" id="{9734CE30-091E-4E60-8675-EFB6411BC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4800600"/>
            <a:ext cx="7277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B42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B42318"/>
                </a:solidFill>
                <a:latin typeface="Helvetica Neue"/>
                <a:ea typeface="Helvetica Neue"/>
                <a:cs typeface="Helvetica Neue"/>
              </a:rPr>
              <a:t>Single-AZ RDS and one EC2 host are explicit lab limits.</a:t>
            </a:r>
          </a:p>
        </p:txBody>
      </p:sp>
    </p:spTree>
    <p:extLst>
      <p:ext uri="{BB962C8B-B14F-4D97-AF65-F5344CB8AC3E}">
        <p14:creationId xmlns:p14="http://schemas.microsoft.com/office/powerpoint/2010/main" val="1824727456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kicker">
            <a:extLst xmlns:a="http://schemas.openxmlformats.org/drawingml/2006/main">
              <a:ext uri="{FF2B5EF4-FFF2-40B4-BE49-F238E27FC236}">
                <a16:creationId xmlns:a16="http://schemas.microsoft.com/office/drawing/2014/main" id="{AA90E4A3-B04B-4475-991C-2B4847168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08 · PERFORMANCE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23F4BC4-3593-4F93-B2CF-740FB8E78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0858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rPr>
              <a:t>500 participants stayed inside every budget</a:t>
            </a:r>
          </a:p>
        </p:txBody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1D8254D-66CF-4B64-A98B-066E5CF51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F66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>
                <a:solidFill>
                  <a:srgbClr val="5F6672"/>
                </a:solidFill>
                <a:latin typeface="Helvetica Neue"/>
                <a:ea typeface="Helvetica Neue"/>
                <a:cs typeface="Helvetica Neue"/>
              </a:rPr>
              <a:t>09</a:t>
            </a:r>
          </a:p>
        </p:txBody>
      </p: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400050" y="1847850"/>
          <a:ext xmlns:a="http://schemas.openxmlformats.org/drawingml/2006/main" cx="6667500" cy="39814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ee0ab4e72e645f1"/>
          </a:graphicData>
        </a:graphic>
      </p:graphicFrame>
      <p:sp>
        <p:nvSpPr>
          <p:cNvPr id="5" name="errors-stat">
            <a:extLst xmlns:a="http://schemas.openxmlformats.org/drawingml/2006/main">
              <a:ext uri="{FF2B5EF4-FFF2-40B4-BE49-F238E27FC236}">
                <a16:creationId xmlns:a16="http://schemas.microsoft.com/office/drawing/2014/main" id="{04CF1DFE-ECC2-412A-8469-091D3F4ED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790700"/>
            <a:ext cx="285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465"/>
          </a:bodyPr>
          <a:lstStyle xmlns:a="http://schemas.openxmlformats.org/drawingml/2006/main"/>
          <a:p xmlns:a="http://schemas.openxmlformats.org/drawingml/2006/main">
            <a:pPr>
              <a:defRPr sz="4950" b="1">
                <a:solidFill>
                  <a:srgbClr val="1496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4950" b="1">
                <a:solidFill>
                  <a:srgbClr val="14966A"/>
                </a:solidFill>
                <a:latin typeface="Helvetica Neue"/>
                <a:ea typeface="Helvetica Neue"/>
                <a:cs typeface="Helvetica Neue"/>
              </a:rPr>
              <a:t>0%</a:t>
            </a:r>
          </a:p>
        </p:txBody>
      </p:sp>
      <p:sp>
        <p:nvSpPr>
          <p:cNvPr id="6" name="errors-label">
            <a:extLst xmlns:a="http://schemas.openxmlformats.org/drawingml/2006/main">
              <a:ext uri="{FF2B5EF4-FFF2-40B4-BE49-F238E27FC236}">
                <a16:creationId xmlns:a16="http://schemas.microsoft.com/office/drawing/2014/main" id="{6EFD7D15-8A37-4416-9F1A-F182255E5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53365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F66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>
                <a:solidFill>
                  <a:srgbClr val="5F6672"/>
                </a:solidFill>
                <a:latin typeface="Helvetica Neue"/>
                <a:ea typeface="Helvetica Neue"/>
                <a:cs typeface="Helvetica Neue"/>
              </a:rPr>
              <a:t>workflow errors</a:t>
            </a:r>
          </a:p>
        </p:txBody>
      </p:sp>
      <p:sp>
        <p:nvSpPr>
          <p:cNvPr id="7" name="throughput-stat">
            <a:extLst xmlns:a="http://schemas.openxmlformats.org/drawingml/2006/main">
              <a:ext uri="{FF2B5EF4-FFF2-40B4-BE49-F238E27FC236}">
                <a16:creationId xmlns:a16="http://schemas.microsoft.com/office/drawing/2014/main" id="{4F57633E-9724-46D9-8355-997C1EDDE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314700"/>
            <a:ext cx="342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defRPr>
            </a:pPr>
            <a:r>
              <a:rPr sz="4350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rPr>
              <a:t>234.70/s</a:t>
            </a:r>
          </a:p>
        </p:txBody>
      </p:sp>
      <p:sp>
        <p:nvSpPr>
          <p:cNvPr id="8" name="throughput-label">
            <a:extLst xmlns:a="http://schemas.openxmlformats.org/drawingml/2006/main">
              <a:ext uri="{FF2B5EF4-FFF2-40B4-BE49-F238E27FC236}">
                <a16:creationId xmlns:a16="http://schemas.microsoft.com/office/drawing/2014/main" id="{08933716-1006-4A89-BC38-CCD5D177B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05765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F66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>
                <a:solidFill>
                  <a:srgbClr val="5F6672"/>
                </a:solidFill>
                <a:latin typeface="Helvetica Neue"/>
                <a:ea typeface="Helvetica Neue"/>
                <a:cs typeface="Helvetica Neue"/>
              </a:rPr>
              <a:t>registration throughput</a:t>
            </a:r>
          </a:p>
        </p:txBody>
      </p:sp>
      <p:sp>
        <p:nvSpPr>
          <p:cNvPr id="9" name="budget-label">
            <a:extLst xmlns:a="http://schemas.openxmlformats.org/drawingml/2006/main">
              <a:ext uri="{FF2B5EF4-FFF2-40B4-BE49-F238E27FC236}">
                <a16:creationId xmlns:a16="http://schemas.microsoft.com/office/drawing/2014/main" id="{08BEF4B4-8D82-49C8-9016-1A3B44A85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5048250"/>
            <a:ext cx="342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Budgets: reads ≤250 ms · writes ≤500 ms · errors ≤1%</a:t>
            </a:r>
          </a:p>
        </p:txBody>
      </p:sp>
    </p:spTree>
    <p:extLst>
      <p:ext uri="{BB962C8B-B14F-4D97-AF65-F5344CB8AC3E}">
        <p14:creationId xmlns:p14="http://schemas.microsoft.com/office/powerpoint/2010/main" val="1671738388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kicker">
            <a:extLst xmlns:a="http://schemas.openxmlformats.org/drawingml/2006/main">
              <a:ext uri="{FF2B5EF4-FFF2-40B4-BE49-F238E27FC236}">
                <a16:creationId xmlns:a16="http://schemas.microsoft.com/office/drawing/2014/main" id="{E8E5B5B6-FE1C-4D0C-B4DC-84740B3A7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09 · BACKUP RECOVERY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BA7BC0A-F757-4B2F-9972-381DFE98F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0858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rPr>
              <a:t>Recovery verifies data, constraints and indexes</a:t>
            </a:r>
          </a:p>
        </p:txBody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3FA7BCC-9745-4E50-99AC-71B82C5B2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F66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>
                <a:solidFill>
                  <a:srgbClr val="5F6672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  <p:sp>
        <p:nvSpPr>
          <p:cNvPr id="4" name="restore-stat-0">
            <a:extLst xmlns:a="http://schemas.openxmlformats.org/drawingml/2006/main">
              <a:ext uri="{FF2B5EF4-FFF2-40B4-BE49-F238E27FC236}">
                <a16:creationId xmlns:a16="http://schemas.microsoft.com/office/drawing/2014/main" id="{61D72115-C293-469B-9594-BBD270F75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000250"/>
            <a:ext cx="2381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5400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defRPr>
            </a:pPr>
            <a:r>
              <a:rPr sz="5400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rPr>
              <a:t>500</a:t>
            </a:r>
          </a:p>
        </p:txBody>
      </p:sp>
      <p:sp>
        <p:nvSpPr>
          <p:cNvPr id="5" name="restore-label-0">
            <a:extLst xmlns:a="http://schemas.openxmlformats.org/drawingml/2006/main">
              <a:ext uri="{FF2B5EF4-FFF2-40B4-BE49-F238E27FC236}">
                <a16:creationId xmlns:a16="http://schemas.microsoft.com/office/drawing/2014/main" id="{5C1047A0-4637-4024-8B8A-0A7F0A258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10515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>
                <a:solidFill>
                  <a:srgbClr val="5F66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>
                <a:solidFill>
                  <a:srgbClr val="5F6672"/>
                </a:solidFill>
                <a:latin typeface="Helvetica Neue"/>
                <a:ea typeface="Helvetica Neue"/>
                <a:cs typeface="Helvetica Neue"/>
              </a:rPr>
              <a:t>participants</a:t>
            </a:r>
          </a:p>
        </p:txBody>
      </p:sp>
      <p:sp>
        <p:nvSpPr>
          <p:cNvPr id="6" name="restore-stat-1">
            <a:extLst xmlns:a="http://schemas.openxmlformats.org/drawingml/2006/main">
              <a:ext uri="{FF2B5EF4-FFF2-40B4-BE49-F238E27FC236}">
                <a16:creationId xmlns:a16="http://schemas.microsoft.com/office/drawing/2014/main" id="{56354A97-C20E-497A-BA05-51F55E76B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000250"/>
            <a:ext cx="2381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5400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defRPr>
            </a:pPr>
            <a:r>
              <a:rPr sz="5400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rPr>
              <a:t>500</a:t>
            </a:r>
          </a:p>
        </p:txBody>
      </p:sp>
      <p:sp>
        <p:nvSpPr>
          <p:cNvPr id="7" name="restore-label-1">
            <a:extLst xmlns:a="http://schemas.openxmlformats.org/drawingml/2006/main">
              <a:ext uri="{FF2B5EF4-FFF2-40B4-BE49-F238E27FC236}">
                <a16:creationId xmlns:a16="http://schemas.microsoft.com/office/drawing/2014/main" id="{D1526BD5-3445-4EFA-89A8-6D472BDAD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10515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>
                <a:solidFill>
                  <a:srgbClr val="5F66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>
                <a:solidFill>
                  <a:srgbClr val="5F6672"/>
                </a:solidFill>
                <a:latin typeface="Helvetica Neue"/>
                <a:ea typeface="Helvetica Neue"/>
                <a:cs typeface="Helvetica Neue"/>
              </a:rPr>
              <a:t>screening results</a:t>
            </a:r>
          </a:p>
        </p:txBody>
      </p:sp>
      <p:sp>
        <p:nvSpPr>
          <p:cNvPr id="8" name="restore-stat-2">
            <a:extLst xmlns:a="http://schemas.openxmlformats.org/drawingml/2006/main">
              <a:ext uri="{FF2B5EF4-FFF2-40B4-BE49-F238E27FC236}">
                <a16:creationId xmlns:a16="http://schemas.microsoft.com/office/drawing/2014/main" id="{ADCD0F0D-5A1E-4085-9765-599AD60E0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00250"/>
            <a:ext cx="2381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54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54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177</a:t>
            </a:r>
          </a:p>
        </p:txBody>
      </p:sp>
      <p:sp>
        <p:nvSpPr>
          <p:cNvPr id="9" name="restore-label-2">
            <a:extLst xmlns:a="http://schemas.openxmlformats.org/drawingml/2006/main">
              <a:ext uri="{FF2B5EF4-FFF2-40B4-BE49-F238E27FC236}">
                <a16:creationId xmlns:a16="http://schemas.microsoft.com/office/drawing/2014/main" id="{4FCBCDCE-ADD3-4B3B-9E0E-E32E908E4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10515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>
                <a:solidFill>
                  <a:srgbClr val="5F66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>
                <a:solidFill>
                  <a:srgbClr val="5F6672"/>
                </a:solidFill>
                <a:latin typeface="Helvetica Neue"/>
                <a:ea typeface="Helvetica Neue"/>
                <a:cs typeface="Helvetica Neue"/>
              </a:rPr>
              <a:t>constraints</a:t>
            </a:r>
          </a:p>
        </p:txBody>
      </p:sp>
      <p:sp>
        <p:nvSpPr>
          <p:cNvPr id="10" name="restore-stat-3">
            <a:extLst xmlns:a="http://schemas.openxmlformats.org/drawingml/2006/main">
              <a:ext uri="{FF2B5EF4-FFF2-40B4-BE49-F238E27FC236}">
                <a16:creationId xmlns:a16="http://schemas.microsoft.com/office/drawing/2014/main" id="{29B88940-0124-4A43-98EF-4F7AA4EE8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000250"/>
            <a:ext cx="2381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54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54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245</a:t>
            </a:r>
          </a:p>
        </p:txBody>
      </p:sp>
      <p:sp>
        <p:nvSpPr>
          <p:cNvPr id="11" name="restore-label-3">
            <a:extLst xmlns:a="http://schemas.openxmlformats.org/drawingml/2006/main">
              <a:ext uri="{FF2B5EF4-FFF2-40B4-BE49-F238E27FC236}">
                <a16:creationId xmlns:a16="http://schemas.microsoft.com/office/drawing/2014/main" id="{739D0637-3B03-45D4-B2BE-5617BEC69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10515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>
                <a:solidFill>
                  <a:srgbClr val="5F66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>
                <a:solidFill>
                  <a:srgbClr val="5F6672"/>
                </a:solidFill>
                <a:latin typeface="Helvetica Neue"/>
                <a:ea typeface="Helvetica Neue"/>
                <a:cs typeface="Helvetica Neue"/>
              </a:rPr>
              <a:t>indexes</a:t>
            </a:r>
          </a:p>
        </p:txBody>
      </p:sp>
      <p:sp>
        <p:nvSpPr>
          <p:cNvPr id="12" name="restore-proof">
            <a:extLst xmlns:a="http://schemas.openxmlformats.org/drawingml/2006/main">
              <a:ext uri="{FF2B5EF4-FFF2-40B4-BE49-F238E27FC236}">
                <a16:creationId xmlns:a16="http://schemas.microsoft.com/office/drawing/2014/main" id="{9539CE18-E599-4751-9245-F9B9C81DC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171950"/>
            <a:ext cx="956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EAF7F2"/>
          </a:solidFill>
          <a:ln xmlns:a="http://schemas.openxmlformats.org/drawingml/2006/main" w="9525">
            <a:solidFill>
              <a:srgbClr val="14966A"/>
            </a:solidFill>
            <a:prstDash val="solid"/>
          </a:ln>
        </p:spPr>
      </p:sp>
      <p:sp>
        <p:nvSpPr>
          <p:cNvPr id="13" name="restore-proof-text">
            <a:extLst xmlns:a="http://schemas.openxmlformats.org/drawingml/2006/main">
              <a:ext uri="{FF2B5EF4-FFF2-40B4-BE49-F238E27FC236}">
                <a16:creationId xmlns:a16="http://schemas.microsoft.com/office/drawing/2014/main" id="{177C3EA7-7196-4C4D-930C-FCE48CFBF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457700"/>
            <a:ext cx="8724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7778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A6B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0A6B4A"/>
                </a:solidFill>
                <a:latin typeface="Helvetica Neue"/>
                <a:ea typeface="Helvetica Neue"/>
                <a:cs typeface="Helvetica Neue"/>
              </a:rPr>
              <a:t>Source and restored databases matched exact row counts, constraint identities and index definitions.</a:t>
            </a:r>
          </a:p>
        </p:txBody>
      </p:sp>
    </p:spTree>
    <p:extLst>
      <p:ext uri="{BB962C8B-B14F-4D97-AF65-F5344CB8AC3E}">
        <p14:creationId xmlns:p14="http://schemas.microsoft.com/office/powerpoint/2010/main" val="143163437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lose-kicker">
            <a:extLst xmlns:a="http://schemas.openxmlformats.org/drawingml/2006/main">
              <a:ext uri="{FF2B5EF4-FFF2-40B4-BE49-F238E27FC236}">
                <a16:creationId xmlns:a16="http://schemas.microsoft.com/office/drawing/2014/main" id="{60CC3CA9-F188-4F4D-81DF-5E1B6F930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152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VSMS</a:t>
            </a:r>
          </a:p>
        </p:txBody>
      </p:sp>
      <p:sp>
        <p:nvSpPr>
          <p:cNvPr id="2" name="close-title">
            <a:extLst xmlns:a="http://schemas.openxmlformats.org/drawingml/2006/main">
              <a:ext uri="{FF2B5EF4-FFF2-40B4-BE49-F238E27FC236}">
                <a16:creationId xmlns:a16="http://schemas.microsoft.com/office/drawing/2014/main" id="{A42811DA-E1A0-43AB-8A23-ADC1D89D6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76400"/>
            <a:ext cx="8953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defRPr>
            </a:pPr>
            <a:r>
              <a:rPr sz="4350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rPr>
              <a:t>The workflow is implemented.</a:t>
            </a:r>
          </a:p>
          <a:p xmlns:a="http://schemas.openxmlformats.org/drawingml/2006/main">
            <a:pPr>
              <a:defRPr sz="4350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defRPr>
            </a:pPr>
            <a:r>
              <a:rPr sz="4350" b="1">
                <a:solidFill>
                  <a:srgbClr val="101114"/>
                </a:solidFill>
                <a:latin typeface="Helvetica Neue"/>
                <a:ea typeface="Helvetica Neue"/>
                <a:cs typeface="Helvetica Neue"/>
              </a:rPr>
              <a:t>The final live replay is the remaining proof.</a:t>
            </a:r>
          </a:p>
        </p:txBody>
      </p:sp>
      <p:sp>
        <p:nvSpPr>
          <p:cNvPr id="3" name="ready-title">
            <a:extLst xmlns:a="http://schemas.openxmlformats.org/drawingml/2006/main">
              <a:ext uri="{FF2B5EF4-FFF2-40B4-BE49-F238E27FC236}">
                <a16:creationId xmlns:a16="http://schemas.microsoft.com/office/drawing/2014/main" id="{DF3B3461-61DE-4D8F-A0F0-7E972EDB7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9105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496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4966A"/>
                </a:solidFill>
                <a:latin typeface="Helvetica Neue"/>
                <a:ea typeface="Helvetica Neue"/>
                <a:cs typeface="Helvetica Neue"/>
              </a:rPr>
              <a:t>Ready now</a:t>
            </a:r>
          </a:p>
        </p:txBody>
      </p:sp>
      <p:sp>
        <p:nvSpPr>
          <p:cNvPr id="4" name="ready-body">
            <a:extLst xmlns:a="http://schemas.openxmlformats.org/drawingml/2006/main">
              <a:ext uri="{FF2B5EF4-FFF2-40B4-BE49-F238E27FC236}">
                <a16:creationId xmlns:a16="http://schemas.microsoft.com/office/drawing/2014/main" id="{F2B8223D-6DEC-49A9-9965-C0586212E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6730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F66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>
                <a:solidFill>
                  <a:srgbClr val="5F6672"/>
                </a:solidFill>
                <a:latin typeface="Helvetica Neue"/>
                <a:ea typeface="Helvetica Neue"/>
                <a:cs typeface="Helvetica Neue"/>
              </a:rPr>
              <a:t>Four stations · installable PWA · measured load · verified restore</a:t>
            </a:r>
          </a:p>
        </p:txBody>
      </p:sp>
      <p:sp>
        <p:nvSpPr>
          <p:cNvPr id="5" name="blocked-title">
            <a:extLst xmlns:a="http://schemas.openxmlformats.org/drawingml/2006/main">
              <a:ext uri="{FF2B5EF4-FFF2-40B4-BE49-F238E27FC236}">
                <a16:creationId xmlns:a16="http://schemas.microsoft.com/office/drawing/2014/main" id="{3B4E0EB1-2EE0-43B5-AB7F-A0958CD4A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59105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472"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B42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B42318"/>
                </a:solidFill>
                <a:latin typeface="Helvetica Neue"/>
                <a:ea typeface="Helvetica Neue"/>
                <a:cs typeface="Helvetica Neue"/>
              </a:rPr>
              <a:t>Needs authorized access</a:t>
            </a:r>
          </a:p>
        </p:txBody>
      </p:sp>
      <p:sp>
        <p:nvSpPr>
          <p:cNvPr id="6" name="blocked-body">
            <a:extLst xmlns:a="http://schemas.openxmlformats.org/drawingml/2006/main">
              <a:ext uri="{FF2B5EF4-FFF2-40B4-BE49-F238E27FC236}">
                <a16:creationId xmlns:a16="http://schemas.microsoft.com/office/drawing/2014/main" id="{0A04610B-F054-4FD9-9DA0-6708BEDAD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067300"/>
            <a:ext cx="33147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057"/>
          </a:bodyPr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F667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>
                <a:solidFill>
                  <a:srgbClr val="5F6672"/>
                </a:solidFill>
                <a:latin typeface="Helvetica Neue"/>
                <a:ea typeface="Helvetica Neue"/>
                <a:cs typeface="Helvetica Neue"/>
              </a:rPr>
              <a:t>Cognito role journeys · live AWS screenshots · signed submission inputs</a:t>
            </a:r>
          </a:p>
        </p:txBody>
      </p:sp>
    </p:spTree>
    <p:extLst>
      <p:ext uri="{BB962C8B-B14F-4D97-AF65-F5344CB8AC3E}">
        <p14:creationId xmlns:p14="http://schemas.microsoft.com/office/powerpoint/2010/main" val="201550975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2026-08-13T03:28:17.3880000Z</dcterms:created>
  <dcterms:modified xsi:type="dcterms:W3CDTF">2026-08-13T03:28:17.3880000Z</dcterms:modified>
</coreProperties>
</file>