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80f728d2ea487d" /><Relationship Type="http://schemas.openxmlformats.org/officeDocument/2006/relationships/extended-properties" Target="/docProps/app.xml" Id="Rce68e74ebb434146" /><Relationship Type="http://schemas.openxmlformats.org/officeDocument/2006/relationships/officeDocument" Target="/ppt/presentation.xml" Id="R154eae86b17848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d2671a5694702"/>
  </p:sldMasterIdLst>
  <p:notesMasterIdLst>
    <p:notesMasterId xmlns:r="http://schemas.openxmlformats.org/officeDocument/2006/relationships" r:id="Rcb5478ef402349a0"/>
  </p:notesMasterIdLst>
  <p:sldIdLst>
    <p:sldId xmlns:r="http://schemas.openxmlformats.org/officeDocument/2006/relationships" id="256" r:id="R6251250d7e854ff1"/>
    <p:sldId xmlns:r="http://schemas.openxmlformats.org/officeDocument/2006/relationships" id="257" r:id="R0f188d2306f641fe"/>
    <p:sldId xmlns:r="http://schemas.openxmlformats.org/officeDocument/2006/relationships" id="258" r:id="Rbbcd8f6b39e448c8"/>
    <p:sldId xmlns:r="http://schemas.openxmlformats.org/officeDocument/2006/relationships" id="259" r:id="R7f1672c9bb934477"/>
    <p:sldId xmlns:r="http://schemas.openxmlformats.org/officeDocument/2006/relationships" id="260" r:id="R052a720c590f4a0c"/>
    <p:sldId xmlns:r="http://schemas.openxmlformats.org/officeDocument/2006/relationships" id="261" r:id="Rd7ff923dc4b744a8"/>
    <p:sldId xmlns:r="http://schemas.openxmlformats.org/officeDocument/2006/relationships" id="262" r:id="R5df8add43e0046bc"/>
    <p:sldId xmlns:r="http://schemas.openxmlformats.org/officeDocument/2006/relationships" id="263" r:id="Rdcf68805b2c04f11"/>
    <p:sldId xmlns:r="http://schemas.openxmlformats.org/officeDocument/2006/relationships" id="264" r:id="Rddcef637e91f4af0"/>
    <p:sldId xmlns:r="http://schemas.openxmlformats.org/officeDocument/2006/relationships" id="265" r:id="R4ccfdef2b0b3439e"/>
    <p:sldId xmlns:r="http://schemas.openxmlformats.org/officeDocument/2006/relationships" id="266" r:id="Rc97ecfcb5460414b"/>
    <p:sldId xmlns:r="http://schemas.openxmlformats.org/officeDocument/2006/relationships" id="267" r:id="R530218ba81e2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df38972b147bb" /><Relationship Type="http://schemas.openxmlformats.org/officeDocument/2006/relationships/slideMaster" Target="/ppt/slideMasters/slideMaster1.xml" Id="R6e0d2671a5694702" /><Relationship Type="http://schemas.openxmlformats.org/officeDocument/2006/relationships/notesMaster" Target="/ppt/notesMasters/notesMaster1.xml" Id="Rcb5478ef402349a0" /><Relationship Type="http://schemas.openxmlformats.org/officeDocument/2006/relationships/presProps" Target="/ppt/presProps.xml" Id="R4be3af777da24ff5" /><Relationship Type="http://schemas.openxmlformats.org/officeDocument/2006/relationships/tableStyles" Target="/ppt/tableStyles.xml" Id="R18fda6be643f4562" /><Relationship Type="http://schemas.openxmlformats.org/officeDocument/2006/relationships/slide" Target="/ppt/slides/slide1.xml" Id="R6251250d7e854ff1" /><Relationship Type="http://schemas.openxmlformats.org/officeDocument/2006/relationships/slide" Target="/ppt/slides/slide2.xml" Id="R0f188d2306f641fe" /><Relationship Type="http://schemas.openxmlformats.org/officeDocument/2006/relationships/slide" Target="/ppt/slides/slide3.xml" Id="Rbbcd8f6b39e448c8" /><Relationship Type="http://schemas.openxmlformats.org/officeDocument/2006/relationships/slide" Target="/ppt/slides/slide4.xml" Id="R7f1672c9bb934477" /><Relationship Type="http://schemas.openxmlformats.org/officeDocument/2006/relationships/slide" Target="/ppt/slides/slide5.xml" Id="R052a720c590f4a0c" /><Relationship Type="http://schemas.openxmlformats.org/officeDocument/2006/relationships/slide" Target="/ppt/slides/slide6.xml" Id="Rd7ff923dc4b744a8" /><Relationship Type="http://schemas.openxmlformats.org/officeDocument/2006/relationships/slide" Target="/ppt/slides/slide7.xml" Id="R5df8add43e0046bc" /><Relationship Type="http://schemas.openxmlformats.org/officeDocument/2006/relationships/slide" Target="/ppt/slides/slide8.xml" Id="Rdcf68805b2c04f11" /><Relationship Type="http://schemas.openxmlformats.org/officeDocument/2006/relationships/slide" Target="/ppt/slides/slide9.xml" Id="Rddcef637e91f4af0" /><Relationship Type="http://schemas.openxmlformats.org/officeDocument/2006/relationships/slide" Target="/ppt/slides/slide10.xml" Id="R4ccfdef2b0b3439e" /><Relationship Type="http://schemas.openxmlformats.org/officeDocument/2006/relationships/slide" Target="/ppt/slides/slide11.xml" Id="Rc97ecfcb5460414b" /><Relationship Type="http://schemas.openxmlformats.org/officeDocument/2006/relationships/slide" Target="/ppt/slides/slide12.xml" Id="R530218ba81e2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70b3ad02c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8756d84bf4ba6" /><Relationship Type="http://schemas.openxmlformats.org/officeDocument/2006/relationships/notesMaster" Target="/ppt/notesMasters/notesMaster1.xml" Id="Rcbc578f6d509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57c08a8644d90" /><Relationship Type="http://schemas.openxmlformats.org/officeDocument/2006/relationships/notesMaster" Target="/ppt/notesMasters/notesMaster1.xml" Id="R7af2420510c7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c91983c5b435f" /><Relationship Type="http://schemas.openxmlformats.org/officeDocument/2006/relationships/notesMaster" Target="/ppt/notesMasters/notesMaster1.xml" Id="Rd505506e913f45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9fa814ca94d78" /><Relationship Type="http://schemas.openxmlformats.org/officeDocument/2006/relationships/notesMaster" Target="/ppt/notesMasters/notesMaster1.xml" Id="R45ac60e698f64a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c117383902446b" /><Relationship Type="http://schemas.openxmlformats.org/officeDocument/2006/relationships/notesMaster" Target="/ppt/notesMasters/notesMaster1.xml" Id="R6851eea942e5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9f651b67804488" /><Relationship Type="http://schemas.openxmlformats.org/officeDocument/2006/relationships/notesMaster" Target="/ppt/notesMasters/notesMaster1.xml" Id="R8a2ad3a255bb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e4fe1142f47ab" /><Relationship Type="http://schemas.openxmlformats.org/officeDocument/2006/relationships/notesMaster" Target="/ppt/notesMasters/notesMaster1.xml" Id="R3cf349727e414e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aabbea389b455a" /><Relationship Type="http://schemas.openxmlformats.org/officeDocument/2006/relationships/notesMaster" Target="/ppt/notesMasters/notesMaster1.xml" Id="R9bf5b69badce4d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5f54f6fa474e3e" /><Relationship Type="http://schemas.openxmlformats.org/officeDocument/2006/relationships/notesMaster" Target="/ppt/notesMasters/notesMaster1.xml" Id="Rc40b1a11f12f4d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45768820614dcb" /><Relationship Type="http://schemas.openxmlformats.org/officeDocument/2006/relationships/notesMaster" Target="/ppt/notesMasters/notesMaster1.xml" Id="R806c90ea153140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d86ed3563e490f" /><Relationship Type="http://schemas.openxmlformats.org/officeDocument/2006/relationships/notesMaster" Target="/ppt/notesMasters/notesMaster1.xml" Id="R55cadc5e910643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af5475bfc94fd6" /><Relationship Type="http://schemas.openxmlformats.org/officeDocument/2006/relationships/notesMaster" Target="/ppt/notesMasters/notesMaster1.xml" Id="R612620584fee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goal: replace fragile paper hand-offs without compromising personal or clinical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docs/secure_coding/report.md</a:t>
            </a:r>
          </a:p>
          <a:p xmlns:a="http://schemas.openxmlformats.org/drawingml/2006/main">
            <a:r>
              <a:t>- react-user-dashboard/public/landing/vsms-screening-hero.webp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lifecycle once. The remaining slides prove that the same simple model survives identity checks, offline work and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docs/vsms-participant-flow.md</a:t>
            </a:r>
          </a:p>
          <a:p xmlns:a="http://schemas.openxmlformats.org/drawingml/2006/main">
            <a:r>
              <a:t>- backend/docs/openapi.yaml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system for the acceptance replay. This repository screenshot is supporting product evidence, not a replacement for current AWS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react-user-dashboard/public/landing/event-workspace-preview.jpg</a:t>
            </a:r>
          </a:p>
          <a:p xmlns:a="http://schemas.openxmlformats.org/drawingml/2006/main">
            <a:r>
              <a:t>- backend/services/event/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one allowed path and three denied paths. Do not stop at a successful login; access is event- and duty-scoped.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backend/routes/authRoutes.js</a:t>
            </a:r>
          </a:p>
          <a:p xmlns:a="http://schemas.openxmlformats.org/drawingml/2006/main">
            <a:r>
              <a:t>- backend/middlewares/authorize.js</a:t>
            </a:r>
          </a:p>
          <a:p xmlns:a="http://schemas.openxmlformats.org/drawingml/2006/main">
            <a:r>
              <a:t>- infrastructure/cognito.yaml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acceptance branch restores eye health through route, service, OpenAPI, seed data, frontend and offline sync. Every station reuses server-side validation, authorization and idempotency.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backend/services/screening/screeningService.js</a:t>
            </a:r>
          </a:p>
          <a:p xmlns:a="http://schemas.openxmlformats.org/drawingml/2006/main">
            <a:r>
              <a:t>- backend/docs/openapi.yaml</a:t>
            </a:r>
          </a:p>
          <a:p xmlns:a="http://schemas.openxmlformats.org/drawingml/2006/main">
            <a:r>
              <a:t>- react-user-dashboard/src/features/screening/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Preload the pack online, disconnect, hard-refresh the PWA, save one eye-health result, reconnect, and show the same clientActionId cannot be applied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backend/docs/offline-screening-28.md</a:t>
            </a:r>
          </a:p>
          <a:p xmlns:a="http://schemas.openxmlformats.org/drawingml/2006/main">
            <a:r>
              <a:t>- react-user-dashboard/src/features/screening/offlineSync.ts</a:t>
            </a:r>
          </a:p>
          <a:p xmlns:a="http://schemas.openxmlformats.org/drawingml/2006/main">
            <a:r>
              <a:t>- react-user-dashboard/vite.config.ts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event list to enter the representative sample event. This image documents the implemented visual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react-user-dashboard/public/landing/vsms-events-workspace.jpg</a:t>
            </a:r>
          </a:p>
          <a:p xmlns:a="http://schemas.openxmlformats.org/drawingml/2006/main">
            <a:r>
              <a:t>- react-user-dashboard/src/features/events/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historical deployment proof from current availability. The 11 August runbook records this topology; the 13 August API check timed out and must be replayed with renewed AWS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docs/2026-08-11_aws-cloud-deployment-runbook.md</a:t>
            </a:r>
          </a:p>
          <a:p xmlns:a="http://schemas.openxmlformats.org/drawingml/2006/main">
            <a:r>
              <a:t>- docs/secure_coding/diagrams/deploymentDiagram.md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mixed workload: 500 participant pollers, ten staff pollers, registration, check-in, screening sync and reporting against a real PostgreSQL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docs/2026-08-13-performance-recovery.md</a:t>
            </a:r>
          </a:p>
          <a:p xmlns:a="http://schemas.openxmlformats.org/drawingml/2006/main">
            <a:r>
              <a:t>- .github/workflows/performance-recovery.yml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dump is not a recovery proof. The workflow restores into a fresh database and compares row counts, constraint name/type/validation and exact index definitions.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backend/scripts/backup-postgres.sh</a:t>
            </a:r>
          </a:p>
          <a:p xmlns:a="http://schemas.openxmlformats.org/drawingml/2006/main">
            <a:r>
              <a:t>- backend/scripts/restore-postgres.sh</a:t>
            </a:r>
          </a:p>
          <a:p xmlns:a="http://schemas.openxmlformats.org/drawingml/2006/main">
            <a:r>
              <a:t>- docs/2026-08-13-performance-recovery.md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scorecard links requirements and objectives to repeatable repository evidence.</a:t>
            </a:r>
          </a:p>
          <a:p xmlns:a="http://schemas.openxmlformats.org/drawingml/2006/main">
            <a:r>
              <a:t>The 50% registration, 90% paperwork, and 30% throughput targets still require a timed event baseline before they may be claimed as achieved.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docs/09-Evidence/business-objectives.json</a:t>
            </a:r>
          </a:p>
          <a:p xmlns:a="http://schemas.openxmlformats.org/drawingml/2006/main">
            <a:r>
              <a:t>- scripts/check-rubric-evidence.cjs</a:t>
            </a:r>
          </a:p>
          <a:p xmlns:a="http://schemas.openxmlformats.org/drawingml/2006/main">
            <a:r>
              <a:t>- docs/04-Security/owasp-verification-matrix.md</a:t>
            </a:r>
          </a:p>
          <a:p xmlns:a="http://schemas.openxmlformats.org/drawingml/2006/main">
            <a:r>
              <a:t>- Docker validation completed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honestly: code and repeatable local proof are complete; acceptance cannot be claimed until authorized AWS access is restored and the matrix is replayed.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docs/secure_coding/report.md</a:t>
            </a:r>
          </a:p>
          <a:p xmlns:a="http://schemas.openxmlformats.org/drawingml/2006/main">
            <a:r>
              <a:t>- docs/secure_coding/demo-outline.md</a:t>
            </a:r>
          </a:p>
          <a:p xmlns:a="http://schemas.openxmlformats.org/drawingml/2006/main">
            <a:r>
              <a:t>- docs/2026-08-13-performance-recovery.md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562fc7ce7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a31888fef427d" /><Relationship Type="http://schemas.openxmlformats.org/officeDocument/2006/relationships/slideLayout" Target="/ppt/slideLayouts/slideLayout1.xml" Id="Rd9753d2611a8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53d2611a8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2c4930e8d40bb" /><Relationship Type="http://schemas.openxmlformats.org/officeDocument/2006/relationships/image" Target="/ppt/media/image.bin" Id="R6c7469e12c6b457d" /><Relationship Type="http://schemas.openxmlformats.org/officeDocument/2006/relationships/notesSlide" Target="/ppt/notesSlides/notesSlide1.xml" Id="R6be0cdcdeff3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ffe79c31417c" /><Relationship Type="http://schemas.openxmlformats.org/officeDocument/2006/relationships/notesSlide" Target="/ppt/notesSlides/notesSlide2.xml" Id="R6656511f7b89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aa91cacd4610" /><Relationship Type="http://schemas.openxmlformats.org/officeDocument/2006/relationships/image" Target="/ppt/media/image.jpeg" Id="R653533fd00c44cfb" /><Relationship Type="http://schemas.openxmlformats.org/officeDocument/2006/relationships/notesSlide" Target="/ppt/notesSlides/notesSlide3.xml" Id="Rd5a62d60d89b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6047b9fd49e6" /><Relationship Type="http://schemas.openxmlformats.org/officeDocument/2006/relationships/notesSlide" Target="/ppt/notesSlides/notesSlide4.xml" Id="Ra4cc4076b8e740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80081900e486b" /><Relationship Type="http://schemas.openxmlformats.org/officeDocument/2006/relationships/notesSlide" Target="/ppt/notesSlides/notesSlide5.xml" Id="R371d97697b5f44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b9b4d35b241d0" /><Relationship Type="http://schemas.openxmlformats.org/officeDocument/2006/relationships/notesSlide" Target="/ppt/notesSlides/notesSlide6.xml" Id="R762f2e56186246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de9f07b064c16" /><Relationship Type="http://schemas.openxmlformats.org/officeDocument/2006/relationships/image" Target="/ppt/media/image2.jpeg" Id="R57f3a5db5dd7481f" /><Relationship Type="http://schemas.openxmlformats.org/officeDocument/2006/relationships/notesSlide" Target="/ppt/notesSlides/notesSlide7.xml" Id="R8a3092da432b47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236af51c34559" /><Relationship Type="http://schemas.openxmlformats.org/officeDocument/2006/relationships/notesSlide" Target="/ppt/notesSlides/notesSlide8.xml" Id="Ra0a86c8a14d341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bfa7766cf4998" /><Relationship Type="http://schemas.openxmlformats.org/officeDocument/2006/relationships/chart" Target="/ppt/slides/charts/chart1.xml" Id="R04e2235c69ab42bf" /><Relationship Type="http://schemas.openxmlformats.org/officeDocument/2006/relationships/notesSlide" Target="/ppt/notesSlides/notesSlide9.xml" Id="R91ad8799ecde48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fa990d62d4553" /><Relationship Type="http://schemas.openxmlformats.org/officeDocument/2006/relationships/notesSlide" Target="/ppt/notesSlides/notesSlide10.xml" Id="R223762a873b044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e817c0b8c4231" /><Relationship Type="http://schemas.openxmlformats.org/officeDocument/2006/relationships/notesSlide" Target="/ppt/notesSlides/notesSlide11.xml" Id="R05dc2565769a44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98f3120864121" /><Relationship Type="http://schemas.openxmlformats.org/officeDocument/2006/relationships/notesSlide" Target="/ppt/notesSlides/notesSlide12.xml" Id="R661f9b13ad224f1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p95 latency (ms)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Registration</c:v>
              </c:pt>
              <c:pt idx="1">
                <c:v>Check-in</c:v>
              </c:pt>
              <c:pt idx="2">
                <c:v>Queue read</c:v>
              </c:pt>
              <c:pt idx="3">
                <c:v>Screening sync</c:v>
              </c:pt>
              <c:pt idx="4">
                <c:v>Reporting</c:v>
              </c:pt>
              <c:pt idx="5">
                <c:v>Status poll</c:v>
              </c:pt>
            </c:strLit>
          </c:cat>
          <c:val>
            <c:numLit>
              <c:formatCode>General</c:formatCode>
              <c:ptCount val="6"/>
              <c:pt idx="0">
                <c:v>28.35</c:v>
              </c:pt>
              <c:pt idx="1">
                <c:v>32.56</c:v>
              </c:pt>
              <c:pt idx="2">
                <c:v>22.23</c:v>
              </c:pt>
              <c:pt idx="3">
                <c:v>343.96</c:v>
              </c:pt>
              <c:pt idx="4">
                <c:v>33.52</c:v>
              </c:pt>
              <c:pt idx="5">
                <c:v>22.28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CEE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A655E2C-FFB4-4C8B-8F08-A0C196F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VSMS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C87DC7-6429-468D-9964-10A79E3E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complete screening journey, secured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8DC9059-8673-433A-AF9A-A980D9B2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Visual Screening Management System</a:t>
            </a:r>
          </a:p>
          <a:p xmlns:a="http://schemas.openxmlformats.org/drawingml/2006/main">
            <a:pPr>
              <a:buNone/>
              <a:defRPr sz="18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15-minute demonstration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469e12c6b457d"/>
          <a:srcRect xmlns:a="http://schemas.openxmlformats.org/drawingml/2006/main" l="21833" t="0" r="21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A6DCF096-15FB-451F-BBFE-1FC7B94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13 AUG 2026</a:t>
            </a:r>
          </a:p>
        </p:txBody>
      </p:sp>
    </p:spTree>
    <p:extLst>
      <p:ext uri="{BB962C8B-B14F-4D97-AF65-F5344CB8AC3E}">
        <p14:creationId xmlns:p14="http://schemas.microsoft.com/office/powerpoint/2010/main" val="1525319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AE5F14A9-B796-4ED7-BFD8-4CCE15C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AB323-8D9A-4620-8C03-27AB785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record follows arrival to referral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EFEBE0-8A75-4C44-A7D1-0C4CDDF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C167A8CE-345A-488A-AA62-24629C65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B401AB3-882B-4DBA-B3CA-6B6D6426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5482901-F0FC-4385-8B79-FF7BDA23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2B216CE-011F-40B1-88E2-77DF092A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BAB620B3-BCA7-479B-B78E-A4BDC91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DBD48A67-0E13-4558-A66D-9A04F96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arrow-6">
            <a:extLst xmlns:a="http://schemas.openxmlformats.org/drawingml/2006/main">
              <a:ext uri="{FF2B5EF4-FFF2-40B4-BE49-F238E27FC236}">
                <a16:creationId xmlns:a16="http://schemas.microsoft.com/office/drawing/2014/main" id="{4BB60E49-02CB-4AAA-9E1F-B7574C7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05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01">
            <a:extLst xmlns:a="http://schemas.openxmlformats.org/drawingml/2006/main">
              <a:ext uri="{FF2B5EF4-FFF2-40B4-BE49-F238E27FC236}">
                <a16:creationId xmlns:a16="http://schemas.microsoft.com/office/drawing/2014/main" id="{792C6CC2-A34E-48EC-9932-8E55E313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tep-num-01">
            <a:extLst xmlns:a="http://schemas.openxmlformats.org/drawingml/2006/main">
              <a:ext uri="{FF2B5EF4-FFF2-40B4-BE49-F238E27FC236}">
                <a16:creationId xmlns:a16="http://schemas.microsoft.com/office/drawing/2014/main" id="{C8C521FA-6B3E-4D46-9D05-48CBDD3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A1B836B7-E49B-4BAC-8E5F-62B07E7C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Login</a:t>
            </a:r>
          </a:p>
        </p:txBody>
      </p:sp>
      <p:sp>
        <p:nvSpPr>
          <p:cNvPr id="14" name="step-02">
            <a:extLst xmlns:a="http://schemas.openxmlformats.org/drawingml/2006/main">
              <a:ext uri="{FF2B5EF4-FFF2-40B4-BE49-F238E27FC236}">
                <a16:creationId xmlns:a16="http://schemas.microsoft.com/office/drawing/2014/main" id="{BBE31407-65A3-4FF1-B8D8-366D923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ep-num-02">
            <a:extLst xmlns:a="http://schemas.openxmlformats.org/drawingml/2006/main">
              <a:ext uri="{FF2B5EF4-FFF2-40B4-BE49-F238E27FC236}">
                <a16:creationId xmlns:a16="http://schemas.microsoft.com/office/drawing/2014/main" id="{01CC8ED0-23D0-4F84-9944-9125274E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F42111EC-CC09-49E4-9502-A9B26FB4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Register</a:t>
            </a:r>
          </a:p>
        </p:txBody>
      </p:sp>
      <p:sp>
        <p:nvSpPr>
          <p:cNvPr id="17" name="step-03">
            <a:extLst xmlns:a="http://schemas.openxmlformats.org/drawingml/2006/main">
              <a:ext uri="{FF2B5EF4-FFF2-40B4-BE49-F238E27FC236}">
                <a16:creationId xmlns:a16="http://schemas.microsoft.com/office/drawing/2014/main" id="{64D810F8-F160-4329-8927-792774C2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tep-num-03">
            <a:extLst xmlns:a="http://schemas.openxmlformats.org/drawingml/2006/main">
              <a:ext uri="{FF2B5EF4-FFF2-40B4-BE49-F238E27FC236}">
                <a16:creationId xmlns:a16="http://schemas.microsoft.com/office/drawing/2014/main" id="{C4852081-7BC7-4460-9C62-B6EA0FD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286B83E5-DFED-4835-96F7-538A796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QR pass</a:t>
            </a:r>
          </a:p>
        </p:txBody>
      </p:sp>
      <p:sp>
        <p:nvSpPr>
          <p:cNvPr id="20" name="step-04">
            <a:extLst xmlns:a="http://schemas.openxmlformats.org/drawingml/2006/main">
              <a:ext uri="{FF2B5EF4-FFF2-40B4-BE49-F238E27FC236}">
                <a16:creationId xmlns:a16="http://schemas.microsoft.com/office/drawing/2014/main" id="{F161EDDE-403F-4A77-8EB4-681FDA97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num-04">
            <a:extLst xmlns:a="http://schemas.openxmlformats.org/drawingml/2006/main">
              <a:ext uri="{FF2B5EF4-FFF2-40B4-BE49-F238E27FC236}">
                <a16:creationId xmlns:a16="http://schemas.microsoft.com/office/drawing/2014/main" id="{AB1AD4B1-DDBC-4E99-8A20-89E09518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09D515EB-D072-4EEA-92EF-E36A270F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Queue</a:t>
            </a:r>
          </a:p>
        </p:txBody>
      </p:sp>
      <p:sp>
        <p:nvSpPr>
          <p:cNvPr id="23" name="step-05">
            <a:extLst xmlns:a="http://schemas.openxmlformats.org/drawingml/2006/main">
              <a:ext uri="{FF2B5EF4-FFF2-40B4-BE49-F238E27FC236}">
                <a16:creationId xmlns:a16="http://schemas.microsoft.com/office/drawing/2014/main" id="{B3428514-BDFB-4296-8EB0-B1FC1344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4" name="step-num-05">
            <a:extLst xmlns:a="http://schemas.openxmlformats.org/drawingml/2006/main">
              <a:ext uri="{FF2B5EF4-FFF2-40B4-BE49-F238E27FC236}">
                <a16:creationId xmlns:a16="http://schemas.microsoft.com/office/drawing/2014/main" id="{373A52A5-6963-4A80-B427-2AE9343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step-label-05">
            <a:extLst xmlns:a="http://schemas.openxmlformats.org/drawingml/2006/main">
              <a:ext uri="{FF2B5EF4-FFF2-40B4-BE49-F238E27FC236}">
                <a16:creationId xmlns:a16="http://schemas.microsoft.com/office/drawing/2014/main" id="{C191F41F-84D2-4DA0-8CF5-5A0A02F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Stations</a:t>
            </a:r>
          </a:p>
        </p:txBody>
      </p:sp>
      <p:sp>
        <p:nvSpPr>
          <p:cNvPr id="26" name="step-06">
            <a:extLst xmlns:a="http://schemas.openxmlformats.org/drawingml/2006/main">
              <a:ext uri="{FF2B5EF4-FFF2-40B4-BE49-F238E27FC236}">
                <a16:creationId xmlns:a16="http://schemas.microsoft.com/office/drawing/2014/main" id="{C35BDAD4-690C-4FE2-BDB1-16D3E9EA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tep-num-06">
            <a:extLst xmlns:a="http://schemas.openxmlformats.org/drawingml/2006/main">
              <a:ext uri="{FF2B5EF4-FFF2-40B4-BE49-F238E27FC236}">
                <a16:creationId xmlns:a16="http://schemas.microsoft.com/office/drawing/2014/main" id="{B9CF82FF-4756-466F-9269-9A05F3F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step-label-06">
            <a:extLst xmlns:a="http://schemas.openxmlformats.org/drawingml/2006/main">
              <a:ext uri="{FF2B5EF4-FFF2-40B4-BE49-F238E27FC236}">
                <a16:creationId xmlns:a16="http://schemas.microsoft.com/office/drawing/2014/main" id="{096E978D-CAA1-4620-B9D2-F7F0DCA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9" name="step-07">
            <a:extLst xmlns:a="http://schemas.openxmlformats.org/drawingml/2006/main">
              <a:ext uri="{FF2B5EF4-FFF2-40B4-BE49-F238E27FC236}">
                <a16:creationId xmlns:a16="http://schemas.microsoft.com/office/drawing/2014/main" id="{AF96C711-D0E3-4838-BBD9-28C8DFDF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tep-num-07">
            <a:extLst xmlns:a="http://schemas.openxmlformats.org/drawingml/2006/main">
              <a:ext uri="{FF2B5EF4-FFF2-40B4-BE49-F238E27FC236}">
                <a16:creationId xmlns:a16="http://schemas.microsoft.com/office/drawing/2014/main" id="{A2BDFDDB-3636-4D6E-AF2D-E8F8021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1" name="step-label-07">
            <a:extLst xmlns:a="http://schemas.openxmlformats.org/drawingml/2006/main">
              <a:ext uri="{FF2B5EF4-FFF2-40B4-BE49-F238E27FC236}">
                <a16:creationId xmlns:a16="http://schemas.microsoft.com/office/drawing/2014/main" id="{C9CF18A8-242F-4ACC-B95A-2DD66F0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Referral</a:t>
            </a:r>
          </a:p>
        </p:txBody>
      </p:sp>
      <p:sp>
        <p:nvSpPr>
          <p:cNvPr id="32" name="step-08">
            <a:extLst xmlns:a="http://schemas.openxmlformats.org/drawingml/2006/main">
              <a:ext uri="{FF2B5EF4-FFF2-40B4-BE49-F238E27FC236}">
                <a16:creationId xmlns:a16="http://schemas.microsoft.com/office/drawing/2014/main" id="{1F76D82E-ED3A-4498-9709-DBF5878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tep-num-08">
            <a:extLst xmlns:a="http://schemas.openxmlformats.org/drawingml/2006/main">
              <a:ext uri="{FF2B5EF4-FFF2-40B4-BE49-F238E27FC236}">
                <a16:creationId xmlns:a16="http://schemas.microsoft.com/office/drawing/2014/main" id="{DF29BC41-C4A7-4DD2-A1A1-27FB6BD7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47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4" name="step-label-08">
            <a:extLst xmlns:a="http://schemas.openxmlformats.org/drawingml/2006/main">
              <a:ext uri="{FF2B5EF4-FFF2-40B4-BE49-F238E27FC236}">
                <a16:creationId xmlns:a16="http://schemas.microsoft.com/office/drawing/2014/main" id="{43805F13-7DA7-4B49-AD52-7CFBE56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57550"/>
            <a:ext cx="91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Report</a:t>
            </a:r>
          </a:p>
        </p:txBody>
      </p:sp>
      <p:sp>
        <p:nvSpPr>
          <p:cNvPr id="35" name="workflow-takeaway">
            <a:extLst xmlns:a="http://schemas.openxmlformats.org/drawingml/2006/main">
              <a:ext uri="{FF2B5EF4-FFF2-40B4-BE49-F238E27FC236}">
                <a16:creationId xmlns:a16="http://schemas.microsoft.com/office/drawing/2014/main" id="{D90B73F4-1E8E-4EC2-A95B-F0AFDB39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010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9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Event-scoped authorization and audit records surround every transition.</a:t>
            </a:r>
          </a:p>
        </p:txBody>
      </p:sp>
    </p:spTree>
    <p:extLst>
      <p:ext uri="{BB962C8B-B14F-4D97-AF65-F5344CB8AC3E}">
        <p14:creationId xmlns:p14="http://schemas.microsoft.com/office/powerpoint/2010/main" val="11985795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F593200D-8B2D-4B15-BE80-8A98FBE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EVENT WORKSPACE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A56D2E-4881-4995-BB17-BBCC3A0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Operational visibility without clinical exposure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A49A61-B223-4162-A4F0-1ABAEB4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533fd00c44cfb"/>
          <a:stretch xmlns:a="http://schemas.openxmlformats.org/drawingml/2006/main"/>
        </p:blipFill>
        <p:spPr>
          <a:xfrm xmlns:a="http://schemas.openxmlformats.org/drawingml/2006/main">
            <a:off x="807720" y="1809750"/>
            <a:ext cx="6614160" cy="4133850"/>
          </a:xfrm>
          <a:prstGeom xmlns:a="http://schemas.openxmlformats.org/drawingml/2006/main" prst="rect">
            <a:avLst/>
          </a:prstGeom>
        </p:spPr>
      </p:pic>
      <p:sp>
        <p:nvSpPr>
          <p:cNvPr id="5" name="workspace-claim">
            <a:extLst xmlns:a="http://schemas.openxmlformats.org/drawingml/2006/main">
              <a:ext uri="{FF2B5EF4-FFF2-40B4-BE49-F238E27FC236}">
                <a16:creationId xmlns:a16="http://schemas.microsoft.com/office/drawing/2014/main" id="{ED9CC561-6A0E-4689-AFF9-5EF8396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21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Managers see the event, staffing and queue state they own.</a:t>
            </a:r>
          </a:p>
        </p:txBody>
      </p:sp>
      <p:sp>
        <p:nvSpPr>
          <p:cNvPr id="6" name="workspace-detail">
            <a:extLst xmlns:a="http://schemas.openxmlformats.org/drawingml/2006/main">
              <a:ext uri="{FF2B5EF4-FFF2-40B4-BE49-F238E27FC236}">
                <a16:creationId xmlns:a16="http://schemas.microsoft.com/office/drawing/2014/main" id="{FFA14E93-D5A7-49DC-B1F8-AC8516A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3143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Registration staff can search, register and check 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Screeners receive only assigned station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Doctors own review and referral decisions.</a:t>
            </a:r>
          </a:p>
        </p:txBody>
      </p:sp>
    </p:spTree>
    <p:extLst>
      <p:ext uri="{BB962C8B-B14F-4D97-AF65-F5344CB8AC3E}">
        <p14:creationId xmlns:p14="http://schemas.microsoft.com/office/powerpoint/2010/main" val="4512262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308483A3-EDED-4C4D-9752-DB1299C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· SECURITY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8067E5-B992-4C72-97EB-E7998ACC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Identity comes first; the API still decides access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D6C628-0F2B-4BC5-8337-2C214C2E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auth-arrow-0">
            <a:extLst xmlns:a="http://schemas.openxmlformats.org/drawingml/2006/main">
              <a:ext uri="{FF2B5EF4-FFF2-40B4-BE49-F238E27FC236}">
                <a16:creationId xmlns:a16="http://schemas.microsoft.com/office/drawing/2014/main" id="{B27E6385-068A-41FF-AC4D-CC20139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242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uth-arrow-1">
            <a:extLst xmlns:a="http://schemas.openxmlformats.org/drawingml/2006/main">
              <a:ext uri="{FF2B5EF4-FFF2-40B4-BE49-F238E27FC236}">
                <a16:creationId xmlns:a16="http://schemas.microsoft.com/office/drawing/2014/main" id="{C6D9E0C7-BD65-4514-8B7D-1130A186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uth-arrow-2">
            <a:extLst xmlns:a="http://schemas.openxmlformats.org/drawingml/2006/main">
              <a:ext uri="{FF2B5EF4-FFF2-40B4-BE49-F238E27FC236}">
                <a16:creationId xmlns:a16="http://schemas.microsoft.com/office/drawing/2014/main" id="{062368E6-7013-4BE6-9F08-56595CE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uth-arrow-3">
            <a:extLst xmlns:a="http://schemas.openxmlformats.org/drawingml/2006/main">
              <a:ext uri="{FF2B5EF4-FFF2-40B4-BE49-F238E27FC236}">
                <a16:creationId xmlns:a16="http://schemas.microsoft.com/office/drawing/2014/main" id="{D76D8B3B-1087-496F-9898-02E3EF0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-node-0">
            <a:extLst xmlns:a="http://schemas.openxmlformats.org/drawingml/2006/main">
              <a:ext uri="{FF2B5EF4-FFF2-40B4-BE49-F238E27FC236}">
                <a16:creationId xmlns:a16="http://schemas.microsoft.com/office/drawing/2014/main" id="{FEFBAC63-96C7-4194-B3AF-2CDFB789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676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auth-head-0">
            <a:extLst xmlns:a="http://schemas.openxmlformats.org/drawingml/2006/main">
              <a:ext uri="{FF2B5EF4-FFF2-40B4-BE49-F238E27FC236}">
                <a16:creationId xmlns:a16="http://schemas.microsoft.com/office/drawing/2014/main" id="{024CC34B-167B-4BB9-9D85-AF9D26AC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Cognito</a:t>
            </a:r>
          </a:p>
        </p:txBody>
      </p:sp>
      <p:sp>
        <p:nvSpPr>
          <p:cNvPr id="10" name="auth-body-0">
            <a:extLst xmlns:a="http://schemas.openxmlformats.org/drawingml/2006/main">
              <a:ext uri="{FF2B5EF4-FFF2-40B4-BE49-F238E27FC236}">
                <a16:creationId xmlns:a16="http://schemas.microsoft.com/office/drawing/2014/main" id="{A62DF66D-8EFA-4503-AC7B-394FF3BB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PKCE sign-in</a:t>
            </a:r>
          </a:p>
        </p:txBody>
      </p:sp>
      <p:sp>
        <p:nvSpPr>
          <p:cNvPr id="11" name="auth-node-1">
            <a:extLst xmlns:a="http://schemas.openxmlformats.org/drawingml/2006/main">
              <a:ext uri="{FF2B5EF4-FFF2-40B4-BE49-F238E27FC236}">
                <a16:creationId xmlns:a16="http://schemas.microsoft.com/office/drawing/2014/main" id="{933FA3A4-7C2E-4B63-A47F-8FD11D8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676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uth-head-1">
            <a:extLst xmlns:a="http://schemas.openxmlformats.org/drawingml/2006/main">
              <a:ext uri="{FF2B5EF4-FFF2-40B4-BE49-F238E27FC236}">
                <a16:creationId xmlns:a16="http://schemas.microsoft.com/office/drawing/2014/main" id="{DF82C1EB-C359-42C1-9FEA-C47BAEB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13" name="auth-body-1">
            <a:extLst xmlns:a="http://schemas.openxmlformats.org/drawingml/2006/main">
              <a:ext uri="{FF2B5EF4-FFF2-40B4-BE49-F238E27FC236}">
                <a16:creationId xmlns:a16="http://schemas.microsoft.com/office/drawing/2014/main" id="{47854CC6-BA6C-44E6-A108-89A5331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Secure cookies + CSRF</a:t>
            </a:r>
          </a:p>
        </p:txBody>
      </p:sp>
      <p:sp>
        <p:nvSpPr>
          <p:cNvPr id="14" name="auth-node-2">
            <a:extLst xmlns:a="http://schemas.openxmlformats.org/drawingml/2006/main">
              <a:ext uri="{FF2B5EF4-FFF2-40B4-BE49-F238E27FC236}">
                <a16:creationId xmlns:a16="http://schemas.microsoft.com/office/drawing/2014/main" id="{C50F2F6C-8763-4D48-9498-7E7C8D7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676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uth-head-2">
            <a:extLst xmlns:a="http://schemas.openxmlformats.org/drawingml/2006/main">
              <a:ext uri="{FF2B5EF4-FFF2-40B4-BE49-F238E27FC236}">
                <a16:creationId xmlns:a16="http://schemas.microsoft.com/office/drawing/2014/main" id="{56F33E18-1109-4CA4-9466-92768FE6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Account</a:t>
            </a:r>
          </a:p>
        </p:txBody>
      </p:sp>
      <p:sp>
        <p:nvSpPr>
          <p:cNvPr id="16" name="auth-body-2">
            <a:extLst xmlns:a="http://schemas.openxmlformats.org/drawingml/2006/main">
              <a:ext uri="{FF2B5EF4-FFF2-40B4-BE49-F238E27FC236}">
                <a16:creationId xmlns:a16="http://schemas.microsoft.com/office/drawing/2014/main" id="{9E4E3565-1374-454E-82BD-17BB9EE8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76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Active local state</a:t>
            </a:r>
          </a:p>
        </p:txBody>
      </p:sp>
      <p:sp>
        <p:nvSpPr>
          <p:cNvPr id="17" name="auth-node-3">
            <a:extLst xmlns:a="http://schemas.openxmlformats.org/drawingml/2006/main">
              <a:ext uri="{FF2B5EF4-FFF2-40B4-BE49-F238E27FC236}">
                <a16:creationId xmlns:a16="http://schemas.microsoft.com/office/drawing/2014/main" id="{F5BE9E6B-6E83-42F7-AF1F-14935CD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676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uth-head-3">
            <a:extLst xmlns:a="http://schemas.openxmlformats.org/drawingml/2006/main">
              <a:ext uri="{FF2B5EF4-FFF2-40B4-BE49-F238E27FC236}">
                <a16:creationId xmlns:a16="http://schemas.microsoft.com/office/drawing/2014/main" id="{D61889BF-84BF-4EEA-AE36-9F9F1918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19" name="auth-body-3">
            <a:extLst xmlns:a="http://schemas.openxmlformats.org/drawingml/2006/main">
              <a:ext uri="{FF2B5EF4-FFF2-40B4-BE49-F238E27FC236}">
                <a16:creationId xmlns:a16="http://schemas.microsoft.com/office/drawing/2014/main" id="{83BA4CD2-C280-4EE9-996B-B7C28983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76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Membership + role</a:t>
            </a:r>
          </a:p>
        </p:txBody>
      </p:sp>
      <p:sp>
        <p:nvSpPr>
          <p:cNvPr id="20" name="auth-node-4">
            <a:extLst xmlns:a="http://schemas.openxmlformats.org/drawingml/2006/main">
              <a:ext uri="{FF2B5EF4-FFF2-40B4-BE49-F238E27FC236}">
                <a16:creationId xmlns:a16="http://schemas.microsoft.com/office/drawing/2014/main" id="{B589CC48-2953-423F-81CF-1A2E847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1676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uth-head-4">
            <a:extLst xmlns:a="http://schemas.openxmlformats.org/drawingml/2006/main">
              <a:ext uri="{FF2B5EF4-FFF2-40B4-BE49-F238E27FC236}">
                <a16:creationId xmlns:a16="http://schemas.microsoft.com/office/drawing/2014/main" id="{F523B25C-0CE1-48F6-8E1E-B3F3FFCE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Duty</a:t>
            </a:r>
          </a:p>
        </p:txBody>
      </p:sp>
      <p:sp>
        <p:nvSpPr>
          <p:cNvPr id="22" name="auth-body-4">
            <a:extLst xmlns:a="http://schemas.openxmlformats.org/drawingml/2006/main">
              <a:ext uri="{FF2B5EF4-FFF2-40B4-BE49-F238E27FC236}">
                <a16:creationId xmlns:a16="http://schemas.microsoft.com/office/drawing/2014/main" id="{F2232987-79A9-40BA-ADDE-8EA99253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Assigned station</a:t>
            </a:r>
          </a:p>
        </p:txBody>
      </p:sp>
      <p:sp>
        <p:nvSpPr>
          <p:cNvPr id="23" name="auth-denied">
            <a:extLst xmlns:a="http://schemas.openxmlformats.org/drawingml/2006/main">
              <a:ext uri="{FF2B5EF4-FFF2-40B4-BE49-F238E27FC236}">
                <a16:creationId xmlns:a16="http://schemas.microsoft.com/office/drawing/2014/main" id="{A016DBAF-BD1A-4D80-8642-6FA22832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9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Denied paths are part of acceptance: wrong role, wrong event and inactive duty must fail closed.</a:t>
            </a:r>
          </a:p>
        </p:txBody>
      </p:sp>
    </p:spTree>
    <p:extLst>
      <p:ext uri="{BB962C8B-B14F-4D97-AF65-F5344CB8AC3E}">
        <p14:creationId xmlns:p14="http://schemas.microsoft.com/office/powerpoint/2010/main" val="840912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1E3AB3D-5CB8-4C11-B82B-6918CC4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SCREENING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1596A5-FA5B-476B-9678-E536F542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Four stations. One secure save contract.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278E50-111F-4836-BFD6-797E41F4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station-number-01">
            <a:extLst xmlns:a="http://schemas.openxmlformats.org/drawingml/2006/main">
              <a:ext uri="{FF2B5EF4-FFF2-40B4-BE49-F238E27FC236}">
                <a16:creationId xmlns:a16="http://schemas.microsoft.com/office/drawing/2014/main" id="{50113945-EFB0-4A0E-B41E-DB236D9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station-title-01">
            <a:extLst xmlns:a="http://schemas.openxmlformats.org/drawingml/2006/main">
              <a:ext uri="{FF2B5EF4-FFF2-40B4-BE49-F238E27FC236}">
                <a16:creationId xmlns:a16="http://schemas.microsoft.com/office/drawing/2014/main" id="{CC19F7CD-CD1D-4D7B-B9B4-020216B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669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Visual acuity</a:t>
            </a:r>
          </a:p>
        </p:txBody>
      </p:sp>
      <p:sp>
        <p:nvSpPr>
          <p:cNvPr id="6" name="station-body-01">
            <a:extLst xmlns:a="http://schemas.openxmlformats.org/drawingml/2006/main">
              <a:ext uri="{FF2B5EF4-FFF2-40B4-BE49-F238E27FC236}">
                <a16:creationId xmlns:a16="http://schemas.microsoft.com/office/drawing/2014/main" id="{021DDA81-D6FA-4EAD-85D2-F556E14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05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Distance vision and rule flags</a:t>
            </a:r>
          </a:p>
        </p:txBody>
      </p:sp>
      <p:sp>
        <p:nvSpPr>
          <p:cNvPr id="7" name="station-rule-01">
            <a:extLst xmlns:a="http://schemas.openxmlformats.org/drawingml/2006/main">
              <a:ext uri="{FF2B5EF4-FFF2-40B4-BE49-F238E27FC236}">
                <a16:creationId xmlns:a16="http://schemas.microsoft.com/office/drawing/2014/main" id="{08A8E4A0-5369-4F9D-8082-93E5A9BF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ion-number-02">
            <a:extLst xmlns:a="http://schemas.openxmlformats.org/drawingml/2006/main">
              <a:ext uri="{FF2B5EF4-FFF2-40B4-BE49-F238E27FC236}">
                <a16:creationId xmlns:a16="http://schemas.microsoft.com/office/drawing/2014/main" id="{20BBC543-472A-418D-8AD7-1CA9F2A2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station-title-02">
            <a:extLst xmlns:a="http://schemas.openxmlformats.org/drawingml/2006/main">
              <a:ext uri="{FF2B5EF4-FFF2-40B4-BE49-F238E27FC236}">
                <a16:creationId xmlns:a16="http://schemas.microsoft.com/office/drawing/2014/main" id="{F6D6E318-DCAB-4342-86D9-2FC6350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Refraction</a:t>
            </a:r>
          </a:p>
        </p:txBody>
      </p:sp>
      <p:sp>
        <p:nvSpPr>
          <p:cNvPr id="10" name="station-body-02">
            <a:extLst xmlns:a="http://schemas.openxmlformats.org/drawingml/2006/main">
              <a:ext uri="{FF2B5EF4-FFF2-40B4-BE49-F238E27FC236}">
                <a16:creationId xmlns:a16="http://schemas.microsoft.com/office/drawing/2014/main" id="{4E9CFADD-7EE3-4CC4-9428-0970BF5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Sphere, cylinder and acuity</a:t>
            </a:r>
          </a:p>
        </p:txBody>
      </p:sp>
      <p:sp>
        <p:nvSpPr>
          <p:cNvPr id="11" name="station-rule-02">
            <a:extLst xmlns:a="http://schemas.openxmlformats.org/drawingml/2006/main">
              <a:ext uri="{FF2B5EF4-FFF2-40B4-BE49-F238E27FC236}">
                <a16:creationId xmlns:a16="http://schemas.microsoft.com/office/drawing/2014/main" id="{956D27B2-1292-4935-91AD-4C311483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ion-number-03">
            <a:extLst xmlns:a="http://schemas.openxmlformats.org/drawingml/2006/main">
              <a:ext uri="{FF2B5EF4-FFF2-40B4-BE49-F238E27FC236}">
                <a16:creationId xmlns:a16="http://schemas.microsoft.com/office/drawing/2014/main" id="{73A79884-D130-458B-9247-3412906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station-title-03">
            <a:extLst xmlns:a="http://schemas.openxmlformats.org/drawingml/2006/main">
              <a:ext uri="{FF2B5EF4-FFF2-40B4-BE49-F238E27FC236}">
                <a16:creationId xmlns:a16="http://schemas.microsoft.com/office/drawing/2014/main" id="{5EF0C6F0-2FDD-4094-B7DE-75319A4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86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Colour vision</a:t>
            </a:r>
          </a:p>
        </p:txBody>
      </p:sp>
      <p:sp>
        <p:nvSpPr>
          <p:cNvPr id="14" name="station-body-03">
            <a:extLst xmlns:a="http://schemas.openxmlformats.org/drawingml/2006/main">
              <a:ext uri="{FF2B5EF4-FFF2-40B4-BE49-F238E27FC236}">
                <a16:creationId xmlns:a16="http://schemas.microsoft.com/office/drawing/2014/main" id="{3F7D1050-DC0D-42E5-8CDE-232C8FCF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Plate results and acknowledgement</a:t>
            </a:r>
          </a:p>
        </p:txBody>
      </p:sp>
      <p:sp>
        <p:nvSpPr>
          <p:cNvPr id="15" name="station-rule-03">
            <a:extLst xmlns:a="http://schemas.openxmlformats.org/drawingml/2006/main">
              <a:ext uri="{FF2B5EF4-FFF2-40B4-BE49-F238E27FC236}">
                <a16:creationId xmlns:a16="http://schemas.microsoft.com/office/drawing/2014/main" id="{E20DE977-EAD6-4F59-9338-B9EF217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ion-number-04">
            <a:extLst xmlns:a="http://schemas.openxmlformats.org/drawingml/2006/main">
              <a:ext uri="{FF2B5EF4-FFF2-40B4-BE49-F238E27FC236}">
                <a16:creationId xmlns:a16="http://schemas.microsoft.com/office/drawing/2014/main" id="{8118423B-4419-4BB9-BA6E-97E75C3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tation-title-04">
            <a:extLst xmlns:a="http://schemas.openxmlformats.org/drawingml/2006/main">
              <a:ext uri="{FF2B5EF4-FFF2-40B4-BE49-F238E27FC236}">
                <a16:creationId xmlns:a16="http://schemas.microsoft.com/office/drawing/2014/main" id="{F9DC702D-42E2-4D68-B8D1-59C31DD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958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Eye health</a:t>
            </a:r>
          </a:p>
        </p:txBody>
      </p:sp>
      <p:sp>
        <p:nvSpPr>
          <p:cNvPr id="18" name="station-body-04">
            <a:extLst xmlns:a="http://schemas.openxmlformats.org/drawingml/2006/main">
              <a:ext uri="{FF2B5EF4-FFF2-40B4-BE49-F238E27FC236}">
                <a16:creationId xmlns:a16="http://schemas.microsoft.com/office/drawing/2014/main" id="{3ABD03DA-C209-4ACB-8BE6-EFA3EDE7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33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Observation, urgency and notes</a:t>
            </a:r>
          </a:p>
        </p:txBody>
      </p:sp>
      <p:sp>
        <p:nvSpPr>
          <p:cNvPr id="19" name="station-rule-04">
            <a:extLst xmlns:a="http://schemas.openxmlformats.org/drawingml/2006/main">
              <a:ext uri="{FF2B5EF4-FFF2-40B4-BE49-F238E27FC236}">
                <a16:creationId xmlns:a16="http://schemas.microsoft.com/office/drawing/2014/main" id="{C7955410-68E2-431D-A09B-4DA1C8C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58022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05A06861-8458-459A-9BE8-9E7F2596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 · OFFLINE PWA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0FCBEF-DF51-4215-ADFB-53F20C8F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Offline work stays encrypted and replay-safe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9DE468-7356-4BF0-A201-5ED8D00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offline-arrow-0">
            <a:extLst xmlns:a="http://schemas.openxmlformats.org/drawingml/2006/main">
              <a:ext uri="{FF2B5EF4-FFF2-40B4-BE49-F238E27FC236}">
                <a16:creationId xmlns:a16="http://schemas.microsoft.com/office/drawing/2014/main" id="{147621B5-3225-462F-9F26-00AC01D1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71825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ffline-arrow-1">
            <a:extLst xmlns:a="http://schemas.openxmlformats.org/drawingml/2006/main">
              <a:ext uri="{FF2B5EF4-FFF2-40B4-BE49-F238E27FC236}">
                <a16:creationId xmlns:a16="http://schemas.microsoft.com/office/drawing/2014/main" id="{D95B8C49-2EAF-4329-B061-D5D4944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ffline-arrow-2">
            <a:extLst xmlns:a="http://schemas.openxmlformats.org/drawingml/2006/main">
              <a:ext uri="{FF2B5EF4-FFF2-40B4-BE49-F238E27FC236}">
                <a16:creationId xmlns:a16="http://schemas.microsoft.com/office/drawing/2014/main" id="{42C73CE0-56BF-4EE5-B896-38A2E34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71825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ffline-arrow-3">
            <a:extLst xmlns:a="http://schemas.openxmlformats.org/drawingml/2006/main">
              <a:ext uri="{FF2B5EF4-FFF2-40B4-BE49-F238E27FC236}">
                <a16:creationId xmlns:a16="http://schemas.microsoft.com/office/drawing/2014/main" id="{E85AD67E-5F35-4BD7-AA16-EDD380D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71825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ffline-node-0">
            <a:extLst xmlns:a="http://schemas.openxmlformats.org/drawingml/2006/main">
              <a:ext uri="{FF2B5EF4-FFF2-40B4-BE49-F238E27FC236}">
                <a16:creationId xmlns:a16="http://schemas.microsoft.com/office/drawing/2014/main" id="{247873FD-E1FE-4C45-865D-8DF325ED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4668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offline-head-0">
            <a:extLst xmlns:a="http://schemas.openxmlformats.org/drawingml/2006/main">
              <a:ext uri="{FF2B5EF4-FFF2-40B4-BE49-F238E27FC236}">
                <a16:creationId xmlns:a16="http://schemas.microsoft.com/office/drawing/2014/main" id="{BAF1CDAC-DB9A-4EEB-83E3-46CBE4C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0" name="offline-body-0">
            <a:extLst xmlns:a="http://schemas.openxmlformats.org/drawingml/2006/main">
              <a:ext uri="{FF2B5EF4-FFF2-40B4-BE49-F238E27FC236}">
                <a16:creationId xmlns:a16="http://schemas.microsoft.com/office/drawing/2014/main" id="{51E31997-E0CD-4D32-AAEA-D62C851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Assigned pack</a:t>
            </a:r>
          </a:p>
        </p:txBody>
      </p:sp>
      <p:sp>
        <p:nvSpPr>
          <p:cNvPr id="11" name="offline-node-1">
            <a:extLst xmlns:a="http://schemas.openxmlformats.org/drawingml/2006/main">
              <a:ext uri="{FF2B5EF4-FFF2-40B4-BE49-F238E27FC236}">
                <a16:creationId xmlns:a16="http://schemas.microsoft.com/office/drawing/2014/main" id="{786C9493-F7D6-4FD3-835F-2EEC81C3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4668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offline-head-1">
            <a:extLst xmlns:a="http://schemas.openxmlformats.org/drawingml/2006/main">
              <a:ext uri="{FF2B5EF4-FFF2-40B4-BE49-F238E27FC236}">
                <a16:creationId xmlns:a16="http://schemas.microsoft.com/office/drawing/2014/main" id="{2A6B1BEC-0DBF-460B-BCA6-125B8B3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Go offline</a:t>
            </a:r>
          </a:p>
        </p:txBody>
      </p:sp>
      <p:sp>
        <p:nvSpPr>
          <p:cNvPr id="13" name="offline-body-1">
            <a:extLst xmlns:a="http://schemas.openxmlformats.org/drawingml/2006/main">
              <a:ext uri="{FF2B5EF4-FFF2-40B4-BE49-F238E27FC236}">
                <a16:creationId xmlns:a16="http://schemas.microsoft.com/office/drawing/2014/main" id="{7A861168-CF93-4ED4-95BC-E302E9E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Cached shell</a:t>
            </a:r>
          </a:p>
        </p:txBody>
      </p:sp>
      <p:sp>
        <p:nvSpPr>
          <p:cNvPr id="14" name="offline-node-2">
            <a:extLst xmlns:a="http://schemas.openxmlformats.org/drawingml/2006/main">
              <a:ext uri="{FF2B5EF4-FFF2-40B4-BE49-F238E27FC236}">
                <a16:creationId xmlns:a16="http://schemas.microsoft.com/office/drawing/2014/main" id="{57A5B0E1-215F-4CE9-ABDE-BD6F9592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28900"/>
            <a:ext cx="14668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15" name="offline-head-2">
            <a:extLst xmlns:a="http://schemas.openxmlformats.org/drawingml/2006/main">
              <a:ext uri="{FF2B5EF4-FFF2-40B4-BE49-F238E27FC236}">
                <a16:creationId xmlns:a16="http://schemas.microsoft.com/office/drawing/2014/main" id="{DB3387F9-4B62-48DD-912D-AB6F923B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57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Save</a:t>
            </a:r>
          </a:p>
        </p:txBody>
      </p:sp>
      <p:sp>
        <p:nvSpPr>
          <p:cNvPr id="16" name="offline-body-2">
            <a:extLst xmlns:a="http://schemas.openxmlformats.org/drawingml/2006/main">
              <a:ext uri="{FF2B5EF4-FFF2-40B4-BE49-F238E27FC236}">
                <a16:creationId xmlns:a16="http://schemas.microsoft.com/office/drawing/2014/main" id="{42EFA65B-C970-478B-8671-6EB88D04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71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AES-GCM outbox</a:t>
            </a:r>
          </a:p>
        </p:txBody>
      </p:sp>
      <p:sp>
        <p:nvSpPr>
          <p:cNvPr id="17" name="offline-node-3">
            <a:extLst xmlns:a="http://schemas.openxmlformats.org/drawingml/2006/main">
              <a:ext uri="{FF2B5EF4-FFF2-40B4-BE49-F238E27FC236}">
                <a16:creationId xmlns:a16="http://schemas.microsoft.com/office/drawing/2014/main" id="{1A913C90-37C2-4389-BD4A-0C4C83E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14668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offline-head-3">
            <a:extLst xmlns:a="http://schemas.openxmlformats.org/drawingml/2006/main">
              <a:ext uri="{FF2B5EF4-FFF2-40B4-BE49-F238E27FC236}">
                <a16:creationId xmlns:a16="http://schemas.microsoft.com/office/drawing/2014/main" id="{AE7EDCE6-5FF7-4CE7-BC30-BC907B1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Reconnect</a:t>
            </a:r>
          </a:p>
        </p:txBody>
      </p:sp>
      <p:sp>
        <p:nvSpPr>
          <p:cNvPr id="19" name="offline-body-3">
            <a:extLst xmlns:a="http://schemas.openxmlformats.org/drawingml/2006/main">
              <a:ext uri="{FF2B5EF4-FFF2-40B4-BE49-F238E27FC236}">
                <a16:creationId xmlns:a16="http://schemas.microsoft.com/office/drawing/2014/main" id="{B840AEA0-5A0C-43F4-B92A-D8AA602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Idempotent batch</a:t>
            </a:r>
          </a:p>
        </p:txBody>
      </p:sp>
      <p:sp>
        <p:nvSpPr>
          <p:cNvPr id="20" name="offline-node-4">
            <a:extLst xmlns:a="http://schemas.openxmlformats.org/drawingml/2006/main">
              <a:ext uri="{FF2B5EF4-FFF2-40B4-BE49-F238E27FC236}">
                <a16:creationId xmlns:a16="http://schemas.microsoft.com/office/drawing/2014/main" id="{D3CEB2F5-D0FD-4009-B176-673262DB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28900"/>
            <a:ext cx="14668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offline-head-4">
            <a:extLst xmlns:a="http://schemas.openxmlformats.org/drawingml/2006/main">
              <a:ext uri="{FF2B5EF4-FFF2-40B4-BE49-F238E27FC236}">
                <a16:creationId xmlns:a16="http://schemas.microsoft.com/office/drawing/2014/main" id="{9635DDA3-B8EC-40D3-B90E-0CCAF60F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57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22" name="offline-body-4">
            <a:extLst xmlns:a="http://schemas.openxmlformats.org/drawingml/2006/main">
              <a:ext uri="{FF2B5EF4-FFF2-40B4-BE49-F238E27FC236}">
                <a16:creationId xmlns:a16="http://schemas.microsoft.com/office/drawing/2014/main" id="{1CAD1F26-4CA3-4812-A15B-142ABEA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Applied / conflict</a:t>
            </a:r>
          </a:p>
        </p:txBody>
      </p:sp>
      <p:sp>
        <p:nvSpPr>
          <p:cNvPr id="23" name="offline-takeaway">
            <a:extLst xmlns:a="http://schemas.openxmlformats.org/drawingml/2006/main">
              <a:ext uri="{FF2B5EF4-FFF2-40B4-BE49-F238E27FC236}">
                <a16:creationId xmlns:a16="http://schemas.microsoft.com/office/drawing/2014/main" id="{175961B9-592E-441F-948E-2AF4EC0C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956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service worker caches code. IndexedDB separately encrypts clinical work and purges it on expiry, logout or owner change.</a:t>
            </a:r>
          </a:p>
        </p:txBody>
      </p:sp>
    </p:spTree>
    <p:extLst>
      <p:ext uri="{BB962C8B-B14F-4D97-AF65-F5344CB8AC3E}">
        <p14:creationId xmlns:p14="http://schemas.microsoft.com/office/powerpoint/2010/main" val="5048684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9D208B8-DB00-4C2A-85EC-10581F42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PRODUCT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5FC857-6EEE-4B11-8DC7-86702E78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24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workspace for preparation and live operations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E8BD78-1D32-4894-8447-346C525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3a5db5dd7481f"/>
          <a:stretch xmlns:a="http://schemas.openxmlformats.org/drawingml/2006/main"/>
        </p:blipFill>
        <p:spPr>
          <a:xfrm xmlns:a="http://schemas.openxmlformats.org/drawingml/2006/main">
            <a:off x="865287" y="1809750"/>
            <a:ext cx="6041827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prepare-title">
            <a:extLst xmlns:a="http://schemas.openxmlformats.org/drawingml/2006/main">
              <a:ext uri="{FF2B5EF4-FFF2-40B4-BE49-F238E27FC236}">
                <a16:creationId xmlns:a16="http://schemas.microsoft.com/office/drawing/2014/main" id="{12C076C3-FCA4-4908-95EA-8A392405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6" name="prepare-body">
            <a:extLst xmlns:a="http://schemas.openxmlformats.org/drawingml/2006/main">
              <a:ext uri="{FF2B5EF4-FFF2-40B4-BE49-F238E27FC236}">
                <a16:creationId xmlns:a16="http://schemas.microsoft.com/office/drawing/2014/main" id="{44C805AA-64FF-444A-AD95-3D92AC4D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31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Draft the event, allocate stations and assign staff before publishing.</a:t>
            </a:r>
          </a:p>
        </p:txBody>
      </p:sp>
      <p:sp>
        <p:nvSpPr>
          <p:cNvPr id="7" name="operate-title">
            <a:extLst xmlns:a="http://schemas.openxmlformats.org/drawingml/2006/main">
              <a:ext uri="{FF2B5EF4-FFF2-40B4-BE49-F238E27FC236}">
                <a16:creationId xmlns:a16="http://schemas.microsoft.com/office/drawing/2014/main" id="{DA1B2A1F-EEC2-4F54-B080-2452FFF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Operate</a:t>
            </a:r>
          </a:p>
        </p:txBody>
      </p:sp>
      <p:sp>
        <p:nvSpPr>
          <p:cNvPr id="8" name="operate-body">
            <a:extLst xmlns:a="http://schemas.openxmlformats.org/drawingml/2006/main">
              <a:ext uri="{FF2B5EF4-FFF2-40B4-BE49-F238E27FC236}">
                <a16:creationId xmlns:a16="http://schemas.microsoft.com/office/drawing/2014/main" id="{A3E50E67-6DD9-4ABB-A1B4-5BC3EEB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81500"/>
            <a:ext cx="331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7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Track queues, screening completion and exceptions without navigating away from the event.</a:t>
            </a:r>
          </a:p>
        </p:txBody>
      </p:sp>
    </p:spTree>
    <p:extLst>
      <p:ext uri="{BB962C8B-B14F-4D97-AF65-F5344CB8AC3E}">
        <p14:creationId xmlns:p14="http://schemas.microsoft.com/office/powerpoint/2010/main" val="8834888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ADF4133E-41DD-44C2-8357-1CA06C6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·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C412BD-9805-4776-8E9F-75E0379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Identity is public. Clinical data stays private.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4615F0-AE06-48E8-B884-FDC4956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deploy-arrow-0">
            <a:extLst xmlns:a="http://schemas.openxmlformats.org/drawingml/2006/main">
              <a:ext uri="{FF2B5EF4-FFF2-40B4-BE49-F238E27FC236}">
                <a16:creationId xmlns:a16="http://schemas.microsoft.com/office/drawing/2014/main" id="{67CD1A71-A98B-47A7-8819-697A58D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766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ploy-arrow-1">
            <a:extLst xmlns:a="http://schemas.openxmlformats.org/drawingml/2006/main">
              <a:ext uri="{FF2B5EF4-FFF2-40B4-BE49-F238E27FC236}">
                <a16:creationId xmlns:a16="http://schemas.microsoft.com/office/drawing/2014/main" id="{5E545E13-D13B-4C2C-B75E-842A369A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ploy-arrow-2">
            <a:extLst xmlns:a="http://schemas.openxmlformats.org/drawingml/2006/main">
              <a:ext uri="{FF2B5EF4-FFF2-40B4-BE49-F238E27FC236}">
                <a16:creationId xmlns:a16="http://schemas.microsoft.com/office/drawing/2014/main" id="{5A19371B-C23D-4EBD-8907-5C778E60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ploy-arrow-3">
            <a:extLst xmlns:a="http://schemas.openxmlformats.org/drawingml/2006/main">
              <a:ext uri="{FF2B5EF4-FFF2-40B4-BE49-F238E27FC236}">
                <a16:creationId xmlns:a16="http://schemas.microsoft.com/office/drawing/2014/main" id="{1D04F2DE-1895-49CC-91C8-E1E4C9C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766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ploy-node-0">
            <a:extLst xmlns:a="http://schemas.openxmlformats.org/drawingml/2006/main">
              <a:ext uri="{FF2B5EF4-FFF2-40B4-BE49-F238E27FC236}">
                <a16:creationId xmlns:a16="http://schemas.microsoft.com/office/drawing/2014/main" id="{70794806-CBFB-460D-9C9F-6AEBA8F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eploy-title-0">
            <a:extLst xmlns:a="http://schemas.openxmlformats.org/drawingml/2006/main">
              <a:ext uri="{FF2B5EF4-FFF2-40B4-BE49-F238E27FC236}">
                <a16:creationId xmlns:a16="http://schemas.microsoft.com/office/drawing/2014/main" id="{4A12B06F-44E0-4F5A-9A9F-B56E8F4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Browser PWA</a:t>
            </a:r>
          </a:p>
        </p:txBody>
      </p:sp>
      <p:sp>
        <p:nvSpPr>
          <p:cNvPr id="10" name="deploy-body-0">
            <a:extLst xmlns:a="http://schemas.openxmlformats.org/drawingml/2006/main">
              <a:ext uri="{FF2B5EF4-FFF2-40B4-BE49-F238E27FC236}">
                <a16:creationId xmlns:a16="http://schemas.microsoft.com/office/drawing/2014/main" id="{7E71947E-9828-498E-ABDB-7C1001EA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Amplify + encrypted IndexedDB</a:t>
            </a:r>
          </a:p>
        </p:txBody>
      </p:sp>
      <p:sp>
        <p:nvSpPr>
          <p:cNvPr id="11" name="deploy-node-1">
            <a:extLst xmlns:a="http://schemas.openxmlformats.org/drawingml/2006/main">
              <a:ext uri="{FF2B5EF4-FFF2-40B4-BE49-F238E27FC236}">
                <a16:creationId xmlns:a16="http://schemas.microsoft.com/office/drawing/2014/main" id="{23F24E34-6128-471D-B076-CEB15FD8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eploy-title-1">
            <a:extLst xmlns:a="http://schemas.openxmlformats.org/drawingml/2006/main">
              <a:ext uri="{FF2B5EF4-FFF2-40B4-BE49-F238E27FC236}">
                <a16:creationId xmlns:a16="http://schemas.microsoft.com/office/drawing/2014/main" id="{37C58CA3-5F4E-4F09-9E54-C78A98B3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Nginx</a:t>
            </a:r>
          </a:p>
        </p:txBody>
      </p:sp>
      <p:sp>
        <p:nvSpPr>
          <p:cNvPr id="13" name="deploy-body-1">
            <a:extLst xmlns:a="http://schemas.openxmlformats.org/drawingml/2006/main">
              <a:ext uri="{FF2B5EF4-FFF2-40B4-BE49-F238E27FC236}">
                <a16:creationId xmlns:a16="http://schemas.microsoft.com/office/drawing/2014/main" id="{EF2039BA-C2CC-434F-8818-FA1BA0B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TLS + /api proxy</a:t>
            </a:r>
          </a:p>
        </p:txBody>
      </p:sp>
      <p:sp>
        <p:nvSpPr>
          <p:cNvPr id="14" name="deploy-node-2">
            <a:extLst xmlns:a="http://schemas.openxmlformats.org/drawingml/2006/main">
              <a:ext uri="{FF2B5EF4-FFF2-40B4-BE49-F238E27FC236}">
                <a16:creationId xmlns:a16="http://schemas.microsoft.com/office/drawing/2014/main" id="{76C4CAE8-5E6F-44A5-94D4-FE95DBA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241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deploy-title-2">
            <a:extLst xmlns:a="http://schemas.openxmlformats.org/drawingml/2006/main">
              <a:ext uri="{FF2B5EF4-FFF2-40B4-BE49-F238E27FC236}">
                <a16:creationId xmlns:a16="http://schemas.microsoft.com/office/drawing/2014/main" id="{50279459-5D48-4069-AF05-21E7E6E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Express</a:t>
            </a:r>
          </a:p>
        </p:txBody>
      </p:sp>
      <p:sp>
        <p:nvSpPr>
          <p:cNvPr id="16" name="deploy-body-2">
            <a:extLst xmlns:a="http://schemas.openxmlformats.org/drawingml/2006/main">
              <a:ext uri="{FF2B5EF4-FFF2-40B4-BE49-F238E27FC236}">
                <a16:creationId xmlns:a16="http://schemas.microsoft.com/office/drawing/2014/main" id="{FA680C33-A032-44E2-A252-5B6010E9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API + workers</a:t>
            </a:r>
          </a:p>
        </p:txBody>
      </p:sp>
      <p:sp>
        <p:nvSpPr>
          <p:cNvPr id="17" name="deploy-node-3">
            <a:extLst xmlns:a="http://schemas.openxmlformats.org/drawingml/2006/main">
              <a:ext uri="{FF2B5EF4-FFF2-40B4-BE49-F238E27FC236}">
                <a16:creationId xmlns:a16="http://schemas.microsoft.com/office/drawing/2014/main" id="{700C7B95-D1B1-4BC8-B551-B13B5E8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4966A"/>
            </a:solidFill>
            <a:prstDash val="solid"/>
          </a:ln>
        </p:spPr>
      </p:sp>
      <p:sp>
        <p:nvSpPr>
          <p:cNvPr id="18" name="deploy-title-3">
            <a:extLst xmlns:a="http://schemas.openxmlformats.org/drawingml/2006/main">
              <a:ext uri="{FF2B5EF4-FFF2-40B4-BE49-F238E27FC236}">
                <a16:creationId xmlns:a16="http://schemas.microsoft.com/office/drawing/2014/main" id="{E8A2ECFA-7AEB-47E0-9C97-74D6CB7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Private RDS</a:t>
            </a:r>
          </a:p>
        </p:txBody>
      </p:sp>
      <p:sp>
        <p:nvSpPr>
          <p:cNvPr id="19" name="deploy-body-3">
            <a:extLst xmlns:a="http://schemas.openxmlformats.org/drawingml/2006/main">
              <a:ext uri="{FF2B5EF4-FFF2-40B4-BE49-F238E27FC236}">
                <a16:creationId xmlns:a16="http://schemas.microsoft.com/office/drawing/2014/main" id="{399185A0-3EE5-405B-AF45-9D70B05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Encrypted PostgreSQL</a:t>
            </a:r>
          </a:p>
        </p:txBody>
      </p:sp>
      <p:sp>
        <p:nvSpPr>
          <p:cNvPr id="20" name="deploy-node-4">
            <a:extLst xmlns:a="http://schemas.openxmlformats.org/drawingml/2006/main">
              <a:ext uri="{FF2B5EF4-FFF2-40B4-BE49-F238E27FC236}">
                <a16:creationId xmlns:a16="http://schemas.microsoft.com/office/drawing/2014/main" id="{D8318BBF-3174-4BB1-B867-3EA153D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1485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eploy-title-4">
            <a:extLst xmlns:a="http://schemas.openxmlformats.org/drawingml/2006/main">
              <a:ext uri="{FF2B5EF4-FFF2-40B4-BE49-F238E27FC236}">
                <a16:creationId xmlns:a16="http://schemas.microsoft.com/office/drawing/2014/main" id="{C47BA459-D1BF-4A3E-A017-E2812430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527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2" name="deploy-body-4">
            <a:extLst xmlns:a="http://schemas.openxmlformats.org/drawingml/2006/main">
              <a:ext uri="{FF2B5EF4-FFF2-40B4-BE49-F238E27FC236}">
                <a16:creationId xmlns:a16="http://schemas.microsoft.com/office/drawing/2014/main" id="{93B14646-E357-4B7B-B9D4-D7BFCA3C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86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7-day backups + snapshot</a:t>
            </a:r>
          </a:p>
        </p:txBody>
      </p:sp>
      <p:sp>
        <p:nvSpPr>
          <p:cNvPr id="23" name="cognito-label">
            <a:extLst xmlns:a="http://schemas.openxmlformats.org/drawingml/2006/main">
              <a:ext uri="{FF2B5EF4-FFF2-40B4-BE49-F238E27FC236}">
                <a16:creationId xmlns:a16="http://schemas.microsoft.com/office/drawing/2014/main" id="{0A1B1081-6125-46CE-85B6-A4AE5D0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Cognito PKCE</a:t>
            </a:r>
          </a:p>
        </p:txBody>
      </p:sp>
      <p:sp>
        <p:nvSpPr>
          <p:cNvPr id="24" name="deploy-limit">
            <a:extLst xmlns:a="http://schemas.openxmlformats.org/drawingml/2006/main">
              <a:ext uri="{FF2B5EF4-FFF2-40B4-BE49-F238E27FC236}">
                <a16:creationId xmlns:a16="http://schemas.microsoft.com/office/drawing/2014/main" id="{9734CE30-091E-4E60-8675-EFB6411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0060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Single-AZ RDS and one EC2 host are explicit lab limits.</a:t>
            </a:r>
          </a:p>
        </p:txBody>
      </p:sp>
    </p:spTree>
    <p:extLst>
      <p:ext uri="{BB962C8B-B14F-4D97-AF65-F5344CB8AC3E}">
        <p14:creationId xmlns:p14="http://schemas.microsoft.com/office/powerpoint/2010/main" val="18247274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A90E4A3-B04B-4475-991C-2B48471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08 · PERFORMANCE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3F4BC4-3593-4F93-B2CF-740FB8E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500 participants stayed inside every budget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D8254D-66CF-4B64-A98B-066E5CF5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847850"/>
          <a:ext xmlns:a="http://schemas.openxmlformats.org/drawingml/2006/main" cx="66675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2235c69ab42bf"/>
          </a:graphicData>
        </a:graphic>
      </p:graphicFrame>
      <p:sp>
        <p:nvSpPr>
          <p:cNvPr id="5" name="errors-stat">
            <a:extLst xmlns:a="http://schemas.openxmlformats.org/drawingml/2006/main">
              <a:ext uri="{FF2B5EF4-FFF2-40B4-BE49-F238E27FC236}">
                <a16:creationId xmlns:a16="http://schemas.microsoft.com/office/drawing/2014/main" id="{04CF1DFE-ECC2-412A-8469-091D3F4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65"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49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966A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6" name="errors-label">
            <a:extLst xmlns:a="http://schemas.openxmlformats.org/drawingml/2006/main">
              <a:ext uri="{FF2B5EF4-FFF2-40B4-BE49-F238E27FC236}">
                <a16:creationId xmlns:a16="http://schemas.microsoft.com/office/drawing/2014/main" id="{6EFD7D15-8A37-4416-9F1A-F182255E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workflow errors</a:t>
            </a:r>
          </a:p>
        </p:txBody>
      </p:sp>
      <p:sp>
        <p:nvSpPr>
          <p:cNvPr id="7" name="throughput-stat">
            <a:extLst xmlns:a="http://schemas.openxmlformats.org/drawingml/2006/main">
              <a:ext uri="{FF2B5EF4-FFF2-40B4-BE49-F238E27FC236}">
                <a16:creationId xmlns:a16="http://schemas.microsoft.com/office/drawing/2014/main" id="{4F57633E-9724-46D9-8355-997C1ED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234.70/s</a:t>
            </a:r>
          </a:p>
        </p:txBody>
      </p:sp>
      <p:sp>
        <p:nvSpPr>
          <p:cNvPr id="8" name="throughput-label">
            <a:extLst xmlns:a="http://schemas.openxmlformats.org/drawingml/2006/main">
              <a:ext uri="{FF2B5EF4-FFF2-40B4-BE49-F238E27FC236}">
                <a16:creationId xmlns:a16="http://schemas.microsoft.com/office/drawing/2014/main" id="{08933716-1006-4A89-BC38-CCD5D17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registration throughput</a:t>
            </a:r>
          </a:p>
        </p:txBody>
      </p:sp>
      <p:sp>
        <p:nvSpPr>
          <p:cNvPr id="9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08BEF4B4-8D82-49C8-9016-1A3B44A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Budgets: reads ≤250 ms · writes ≤500 ms · errors ≤1%</a:t>
            </a:r>
          </a:p>
        </p:txBody>
      </p:sp>
    </p:spTree>
    <p:extLst>
      <p:ext uri="{BB962C8B-B14F-4D97-AF65-F5344CB8AC3E}">
        <p14:creationId xmlns:p14="http://schemas.microsoft.com/office/powerpoint/2010/main" val="16717383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E8E5B5B6-FE1C-4D0C-B4DC-84740B3A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 · BACKUP RECOVERY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7BC0A-F757-4B2F-9972-381DFE9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Recovery verifies data, constraints and indexes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FA7BCC-9745-4E50-99AC-71B82C5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store-stat-0">
            <a:extLst xmlns:a="http://schemas.openxmlformats.org/drawingml/2006/main">
              <a:ext uri="{FF2B5EF4-FFF2-40B4-BE49-F238E27FC236}">
                <a16:creationId xmlns:a16="http://schemas.microsoft.com/office/drawing/2014/main" id="{61D72115-C293-469B-9594-BBD270F7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500</a:t>
            </a:r>
          </a:p>
        </p:txBody>
      </p:sp>
      <p:sp>
        <p:nvSpPr>
          <p:cNvPr id="5" name="restore-label-0">
            <a:extLst xmlns:a="http://schemas.openxmlformats.org/drawingml/2006/main">
              <a:ext uri="{FF2B5EF4-FFF2-40B4-BE49-F238E27FC236}">
                <a16:creationId xmlns:a16="http://schemas.microsoft.com/office/drawing/2014/main" id="{5C1047A0-4637-4024-8B8A-0A7F0A25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participants</a:t>
            </a:r>
          </a:p>
        </p:txBody>
      </p:sp>
      <p:sp>
        <p:nvSpPr>
          <p:cNvPr id="6" name="restore-stat-1">
            <a:extLst xmlns:a="http://schemas.openxmlformats.org/drawingml/2006/main">
              <a:ext uri="{FF2B5EF4-FFF2-40B4-BE49-F238E27FC236}">
                <a16:creationId xmlns:a16="http://schemas.microsoft.com/office/drawing/2014/main" id="{56354A97-C20E-497A-BA05-51F55E7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500</a:t>
            </a:r>
          </a:p>
        </p:txBody>
      </p:sp>
      <p:sp>
        <p:nvSpPr>
          <p:cNvPr id="7" name="restore-label-1">
            <a:extLst xmlns:a="http://schemas.openxmlformats.org/drawingml/2006/main">
              <a:ext uri="{FF2B5EF4-FFF2-40B4-BE49-F238E27FC236}">
                <a16:creationId xmlns:a16="http://schemas.microsoft.com/office/drawing/2014/main" id="{D1526BD5-3445-4EFA-89A8-6D472BD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screening results</a:t>
            </a:r>
          </a:p>
        </p:txBody>
      </p:sp>
      <p:sp>
        <p:nvSpPr>
          <p:cNvPr id="8" name="restore-stat-2">
            <a:extLst xmlns:a="http://schemas.openxmlformats.org/drawingml/2006/main">
              <a:ext uri="{FF2B5EF4-FFF2-40B4-BE49-F238E27FC236}">
                <a16:creationId xmlns:a16="http://schemas.microsoft.com/office/drawing/2014/main" id="{ADCD0F0D-5A1E-4085-9765-599AD60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177</a:t>
            </a:r>
          </a:p>
        </p:txBody>
      </p:sp>
      <p:sp>
        <p:nvSpPr>
          <p:cNvPr id="9" name="restore-label-2">
            <a:extLst xmlns:a="http://schemas.openxmlformats.org/drawingml/2006/main">
              <a:ext uri="{FF2B5EF4-FFF2-40B4-BE49-F238E27FC236}">
                <a16:creationId xmlns:a16="http://schemas.microsoft.com/office/drawing/2014/main" id="{4FCBCDCE-ADD3-4B3B-9E0E-E32E908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constraints</a:t>
            </a:r>
          </a:p>
        </p:txBody>
      </p:sp>
      <p:sp>
        <p:nvSpPr>
          <p:cNvPr id="10" name="restore-stat-3">
            <a:extLst xmlns:a="http://schemas.openxmlformats.org/drawingml/2006/main">
              <a:ext uri="{FF2B5EF4-FFF2-40B4-BE49-F238E27FC236}">
                <a16:creationId xmlns:a16="http://schemas.microsoft.com/office/drawing/2014/main" id="{29B88940-0124-4A43-98EF-4F7AA4E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245</a:t>
            </a:r>
          </a:p>
        </p:txBody>
      </p:sp>
      <p:sp>
        <p:nvSpPr>
          <p:cNvPr id="11" name="restore-label-3">
            <a:extLst xmlns:a="http://schemas.openxmlformats.org/drawingml/2006/main">
              <a:ext uri="{FF2B5EF4-FFF2-40B4-BE49-F238E27FC236}">
                <a16:creationId xmlns:a16="http://schemas.microsoft.com/office/drawing/2014/main" id="{739D0637-3B03-45D4-B2BE-5617BEC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indexes</a:t>
            </a:r>
          </a:p>
        </p:txBody>
      </p:sp>
      <p:sp>
        <p:nvSpPr>
          <p:cNvPr id="12" name="restore-proof">
            <a:extLst xmlns:a="http://schemas.openxmlformats.org/drawingml/2006/main">
              <a:ext uri="{FF2B5EF4-FFF2-40B4-BE49-F238E27FC236}">
                <a16:creationId xmlns:a16="http://schemas.microsoft.com/office/drawing/2014/main" id="{9539CE18-E599-4751-9245-F9B9C81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9563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4966A"/>
            </a:solidFill>
            <a:prstDash val="solid"/>
          </a:ln>
        </p:spPr>
      </p:sp>
      <p:sp>
        <p:nvSpPr>
          <p:cNvPr id="13" name="restore-proof-text">
            <a:extLst xmlns:a="http://schemas.openxmlformats.org/drawingml/2006/main">
              <a:ext uri="{FF2B5EF4-FFF2-40B4-BE49-F238E27FC236}">
                <a16:creationId xmlns:a16="http://schemas.microsoft.com/office/drawing/2014/main" id="{177C3EA7-7196-4C4D-930C-FCE48CF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872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A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B4A"/>
                </a:solidFill>
                <a:latin typeface="Helvetica Neue"/>
                <a:ea typeface="Helvetica Neue"/>
                <a:cs typeface="Helvetica Neue"/>
              </a:rPr>
              <a:t>Source and restored databases matched exact row counts, constraint identities and index definitions.</a:t>
            </a:r>
          </a:p>
        </p:txBody>
      </p:sp>
    </p:spTree>
    <p:extLst>
      <p:ext uri="{BB962C8B-B14F-4D97-AF65-F5344CB8AC3E}">
        <p14:creationId xmlns:p14="http://schemas.microsoft.com/office/powerpoint/2010/main" val="1431634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E8E5B5B6-FE1C-4D0C-B4DC-84740B3A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 · RUBRIC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7BC0A-F757-4B2F-9972-381DFE9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Claims are now linked to repeatable evidence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FA7BCC-9745-4E50-99AC-71B82C5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restore-stat-0">
            <a:extLst xmlns:a="http://schemas.openxmlformats.org/drawingml/2006/main">
              <a:ext uri="{FF2B5EF4-FFF2-40B4-BE49-F238E27FC236}">
                <a16:creationId xmlns:a16="http://schemas.microsoft.com/office/drawing/2014/main" id="{61D72115-C293-469B-9594-BBD270F7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8/8</a:t>
            </a:r>
          </a:p>
        </p:txBody>
      </p:sp>
      <p:sp>
        <p:nvSpPr>
          <p:cNvPr id="5" name="restore-label-0">
            <a:extLst xmlns:a="http://schemas.openxmlformats.org/drawingml/2006/main">
              <a:ext uri="{FF2B5EF4-FFF2-40B4-BE49-F238E27FC236}">
                <a16:creationId xmlns:a16="http://schemas.microsoft.com/office/drawing/2014/main" id="{5C1047A0-4637-4024-8B8A-0A7F0A25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business requirements</a:t>
            </a:r>
          </a:p>
        </p:txBody>
      </p:sp>
      <p:sp>
        <p:nvSpPr>
          <p:cNvPr id="6" name="restore-stat-1">
            <a:extLst xmlns:a="http://schemas.openxmlformats.org/drawingml/2006/main">
              <a:ext uri="{FF2B5EF4-FFF2-40B4-BE49-F238E27FC236}">
                <a16:creationId xmlns:a16="http://schemas.microsoft.com/office/drawing/2014/main" id="{56354A97-C20E-497A-BA05-51F55E7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sp>
        <p:nvSpPr>
          <p:cNvPr id="7" name="restore-label-1">
            <a:extLst xmlns:a="http://schemas.openxmlformats.org/drawingml/2006/main">
              <a:ext uri="{FF2B5EF4-FFF2-40B4-BE49-F238E27FC236}">
                <a16:creationId xmlns:a16="http://schemas.microsoft.com/office/drawing/2014/main" id="{D1526BD5-3445-4EFA-89A8-6D472BD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offline screening stations</a:t>
            </a:r>
          </a:p>
        </p:txBody>
      </p:sp>
      <p:sp>
        <p:nvSpPr>
          <p:cNvPr id="8" name="restore-stat-2">
            <a:extLst xmlns:a="http://schemas.openxmlformats.org/drawingml/2006/main">
              <a:ext uri="{FF2B5EF4-FFF2-40B4-BE49-F238E27FC236}">
                <a16:creationId xmlns:a16="http://schemas.microsoft.com/office/drawing/2014/main" id="{ADCD0F0D-5A1E-4085-9765-599AD60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9" name="restore-label-2">
            <a:extLst xmlns:a="http://schemas.openxmlformats.org/drawingml/2006/main">
              <a:ext uri="{FF2B5EF4-FFF2-40B4-BE49-F238E27FC236}">
                <a16:creationId xmlns:a16="http://schemas.microsoft.com/office/drawing/2014/main" id="{4FCBCDCE-ADD3-4B3B-9E0E-E32E908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OWASP categories mapped</a:t>
            </a:r>
          </a:p>
        </p:txBody>
      </p:sp>
      <p:sp>
        <p:nvSpPr>
          <p:cNvPr id="10" name="restore-stat-3">
            <a:extLst xmlns:a="http://schemas.openxmlformats.org/drawingml/2006/main">
              <a:ext uri="{FF2B5EF4-FFF2-40B4-BE49-F238E27FC236}">
                <a16:creationId xmlns:a16="http://schemas.microsoft.com/office/drawing/2014/main" id="{29B88940-0124-4A43-98EF-4F7AA4E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11" name="restore-label-3">
            <a:extLst xmlns:a="http://schemas.openxmlformats.org/drawingml/2006/main">
              <a:ext uri="{FF2B5EF4-FFF2-40B4-BE49-F238E27FC236}">
                <a16:creationId xmlns:a16="http://schemas.microsoft.com/office/drawing/2014/main" id="{739D0637-3B03-45D4-B2BE-5617BEC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backend tests passed</a:t>
            </a:r>
          </a:p>
        </p:txBody>
      </p:sp>
      <p:sp>
        <p:nvSpPr>
          <p:cNvPr id="12" name="restore-proof">
            <a:extLst xmlns:a="http://schemas.openxmlformats.org/drawingml/2006/main">
              <a:ext uri="{FF2B5EF4-FFF2-40B4-BE49-F238E27FC236}">
                <a16:creationId xmlns:a16="http://schemas.microsoft.com/office/drawing/2014/main" id="{9539CE18-E599-4751-9245-F9B9C81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9563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4966A"/>
            </a:solidFill>
            <a:prstDash val="solid"/>
          </a:ln>
        </p:spPr>
      </p:sp>
      <p:sp>
        <p:nvSpPr>
          <p:cNvPr id="13" name="restore-proof-text">
            <a:extLst xmlns:a="http://schemas.openxmlformats.org/drawingml/2006/main">
              <a:ext uri="{FF2B5EF4-FFF2-40B4-BE49-F238E27FC236}">
                <a16:creationId xmlns:a16="http://schemas.microsoft.com/office/drawing/2014/main" id="{177C3EA7-7196-4C4D-930C-FCE48CF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872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A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B4A"/>
                </a:solidFill>
                <a:latin typeface="Helvetica Neue"/>
                <a:ea typeface="Helvetica Neue"/>
                <a:cs typeface="Helvetica Neue"/>
              </a:rPr>
              <a:t>Targets remain targets until measured; repository evidence is checked automatically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431634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0CC3CA9-F188-4F4D-81DF-5E1B6F9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VSMS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42811DA-E1A0-43AB-8A23-ADC1D89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workflow is implemented.</a:t>
            </a:r>
          </a:p>
          <a:p xmlns:a="http://schemas.openxmlformats.org/drawingml/2006/main">
            <a:pPr>
              <a:buNone/>
              <a:def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final live replay is the remaining proof.</a:t>
            </a:r>
          </a:p>
        </p:txBody>
      </p:sp>
      <p:sp>
        <p:nvSpPr>
          <p:cNvPr id="3" name="ready-title">
            <a:extLst xmlns:a="http://schemas.openxmlformats.org/drawingml/2006/main">
              <a:ext uri="{FF2B5EF4-FFF2-40B4-BE49-F238E27FC236}">
                <a16:creationId xmlns:a16="http://schemas.microsoft.com/office/drawing/2014/main" id="{DF3B3461-61DE-4D8F-A0F0-7E972ED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9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966A"/>
                </a:solidFill>
                <a:latin typeface="Helvetica Neue"/>
                <a:ea typeface="Helvetica Neue"/>
                <a:cs typeface="Helvetica Neue"/>
              </a:rPr>
              <a:t>Ready now</a:t>
            </a:r>
          </a:p>
        </p:txBody>
      </p:sp>
      <p:sp>
        <p:nvSpPr>
          <p:cNvPr id="4" name="ready-body">
            <a:extLst xmlns:a="http://schemas.openxmlformats.org/drawingml/2006/main">
              <a:ext uri="{FF2B5EF4-FFF2-40B4-BE49-F238E27FC236}">
                <a16:creationId xmlns:a16="http://schemas.microsoft.com/office/drawing/2014/main" id="{F2B8223D-6DEC-49A9-9965-C058621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Four stations · installable PWA · measured load · verified restore</a:t>
            </a:r>
          </a:p>
        </p:txBody>
      </p:sp>
      <p:sp>
        <p:nvSpPr>
          <p:cNvPr id="5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3B4E0EB1-2EE0-43B5-AB7F-A0958CD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72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Needs authorized access</a:t>
            </a:r>
          </a:p>
        </p:txBody>
      </p:sp>
      <p:sp>
        <p:nvSpPr>
          <p:cNvPr id="6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0A04610B-F054-4FD9-9DA0-6708BEDA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673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57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Cognito role journeys · live AWS screenshots · signed submission inputs</a:t>
            </a:r>
          </a:p>
        </p:txBody>
      </p:sp>
    </p:spTree>
    <p:extLst>
      <p:ext uri="{BB962C8B-B14F-4D97-AF65-F5344CB8AC3E}">
        <p14:creationId xmlns:p14="http://schemas.microsoft.com/office/powerpoint/2010/main" val="2015509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2026-08-13T12:38:11.3860000Z</dcterms:created>
  <dcterms:modified xsi:type="dcterms:W3CDTF">2026-08-13T12:38:11.3860000Z</dcterms:modified>
</coreProperties>
</file>